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36576"/>
          </a:xfrm>
          <a:prstGeom prst="rect">
            <a:avLst/>
          </a:prstGeom>
          <a:solidFill>
            <a:srgbClr val="81B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1B622"/>
                </a:solidFill>
                <a:latin typeface="Segoe UI"/>
              </a:defRPr>
            </a:pPr>
            <a:r>
              <a:t>SYNOPSYS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Process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3A6"/>
                </a:solidFill>
                <a:latin typeface="Segoe UI"/>
              </a:defRPr>
            </a:pPr>
            <a:r>
              <a:t>8 core areas  |  RTL to GDSII  |  vs. Cadence / Siemens EDA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612880" y="137160"/>
            <a:ext cx="2560320" cy="256032"/>
          </a:xfrm>
          <a:prstGeom prst="roundRect">
            <a:avLst>
              <a:gd name="adj" fmla="val 20000"/>
            </a:avLst>
          </a:prstGeom>
          <a:solidFill>
            <a:srgbClr val="12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22608" y="210312"/>
            <a:ext cx="109728" cy="109728"/>
          </a:xfrm>
          <a:prstGeom prst="ellipse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68912" y="1645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A93A6"/>
                </a:solidFill>
                <a:latin typeface="Segoe UI"/>
              </a:defRPr>
            </a:pPr>
            <a:r>
              <a:t>High</a:t>
            </a:r>
          </a:p>
        </p:txBody>
      </p:sp>
      <p:sp>
        <p:nvSpPr>
          <p:cNvPr id="9" name="Oval 8"/>
          <p:cNvSpPr/>
          <p:nvPr/>
        </p:nvSpPr>
        <p:spPr>
          <a:xfrm>
            <a:off x="12545568" y="210312"/>
            <a:ext cx="109728" cy="109728"/>
          </a:xfrm>
          <a:prstGeom prst="ellipse">
            <a:avLst/>
          </a:prstGeom>
          <a:solidFill>
            <a:srgbClr val="F0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91872" y="1645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A93A6"/>
                </a:solidFill>
                <a:latin typeface="Segoe UI"/>
              </a:defRPr>
            </a:pPr>
            <a:r>
              <a:t>Medium</a:t>
            </a:r>
          </a:p>
        </p:txBody>
      </p:sp>
      <p:sp>
        <p:nvSpPr>
          <p:cNvPr id="11" name="Oval 10"/>
          <p:cNvSpPr/>
          <p:nvPr/>
        </p:nvSpPr>
        <p:spPr>
          <a:xfrm>
            <a:off x="13505688" y="210312"/>
            <a:ext cx="109728" cy="109728"/>
          </a:xfrm>
          <a:prstGeom prst="ellipse">
            <a:avLst/>
          </a:prstGeom>
          <a:solidFill>
            <a:srgbClr val="B8C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651992" y="1645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A93A6"/>
                </a:solidFill>
                <a:latin typeface="Segoe UI"/>
              </a:defRPr>
            </a:pPr>
            <a:r>
              <a:t>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097280"/>
            <a:ext cx="6492240" cy="32004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133856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DESIGN PIPELINE  —  RTL to GDSII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113385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8A93A6"/>
                </a:solidFill>
                <a:latin typeface="Segoe UI"/>
              </a:defRPr>
            </a:pPr>
            <a:r>
              <a:t>Sequential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1527048"/>
            <a:ext cx="649224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D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1636776"/>
            <a:ext cx="292608" cy="292608"/>
          </a:xfrm>
          <a:prstGeom prst="ellipse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6002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Logic Synthesis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1618488"/>
            <a:ext cx="777240" cy="201168"/>
          </a:xfrm>
          <a:prstGeom prst="roundRect">
            <a:avLst>
              <a:gd name="adj" fmla="val 5000"/>
            </a:avLst>
          </a:prstGeom>
          <a:solidFill>
            <a:srgbClr val="FFEBEE"/>
          </a:solidFill>
          <a:ln w="127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 b="1">
                <a:solidFill>
                  <a:srgbClr val="C62828"/>
                </a:solidFill>
                <a:latin typeface="Segoe UI"/>
              </a:defRPr>
            </a:pPr>
            <a:r>
              <a:t>SDC Standard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1911096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RTL → gate-level netlist. SDC constraints (Synopsys-created IEEE standard). Technology mapping to foundry PDK. Fusion Compiler unifies with P&amp;R.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3621024" y="2761488"/>
            <a:ext cx="164592" cy="228600"/>
          </a:xfrm>
          <a:prstGeom prst="down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" y="3008376"/>
            <a:ext cx="649224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A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6928" y="3118104"/>
            <a:ext cx="292608" cy="292608"/>
          </a:xfrm>
          <a:prstGeom prst="ellipse">
            <a:avLst/>
          </a:prstGeom>
          <a:solidFill>
            <a:srgbClr val="F0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081528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Place &amp; Route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392424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IC Compiler II: floorplanning → placement → CTS → routing. Fusion Compiler merges with synthesis for physical-aware optimization.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3621024" y="4242816"/>
            <a:ext cx="164592" cy="228600"/>
          </a:xfrm>
          <a:prstGeom prst="down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57200" y="4489704"/>
            <a:ext cx="649224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D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6928" y="4599432"/>
            <a:ext cx="292608" cy="292608"/>
          </a:xfrm>
          <a:prstGeom prst="ellipse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62856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Extraction + Timing Signoff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35040" y="4581144"/>
            <a:ext cx="777240" cy="201168"/>
          </a:xfrm>
          <a:prstGeom prst="roundRect">
            <a:avLst>
              <a:gd name="adj" fmla="val 5000"/>
            </a:avLst>
          </a:prstGeom>
          <a:solidFill>
            <a:srgbClr val="FFEBEE"/>
          </a:solidFill>
          <a:ln w="127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 b="1">
                <a:solidFill>
                  <a:srgbClr val="C62828"/>
                </a:solidFill>
                <a:latin typeface="Segoe UI"/>
              </a:defRPr>
            </a:pPr>
            <a:r>
              <a:t>Foundry Req'd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4873752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StarRC parasitic extraction feeds PrimeTime. PrimeTime is foundry-mandated (TSMC, Samsung, Intel). The toll booth — no chip tapes out without it.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3621024" y="5724144"/>
            <a:ext cx="164592" cy="228600"/>
          </a:xfrm>
          <a:prstGeom prst="down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57200" y="5971032"/>
            <a:ext cx="649224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A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66928" y="6080760"/>
            <a:ext cx="292608" cy="292608"/>
          </a:xfrm>
          <a:prstGeom prst="ellipse">
            <a:avLst/>
          </a:prstGeom>
          <a:solidFill>
            <a:srgbClr val="F0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6044184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Physical Verification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6355080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IC Validator: DRC, LVS, ERC. Checks layout against foundry manufacturing rules. Competes with Siemens Calibre (historical leader).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80960" y="1097280"/>
            <a:ext cx="6492240" cy="32004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18120" y="1133856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VERIFICATION CONTINUUM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161520" y="113385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8A93A6"/>
                </a:solidFill>
                <a:latin typeface="Segoe UI"/>
              </a:defRPr>
            </a:pPr>
            <a:r>
              <a:t>Parallel Track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80960" y="1527048"/>
            <a:ext cx="649224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D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790688" y="1636776"/>
            <a:ext cx="292608" cy="292608"/>
          </a:xfrm>
          <a:prstGeom prst="ellipse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16002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RTL Simulation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3258800" y="1618488"/>
            <a:ext cx="777240" cy="201168"/>
          </a:xfrm>
          <a:prstGeom prst="roundRect">
            <a:avLst>
              <a:gd name="adj" fmla="val 5000"/>
            </a:avLst>
          </a:prstGeom>
          <a:solidFill>
            <a:srgbClr val="FFEBEE"/>
          </a:solidFill>
          <a:ln w="127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 b="1">
                <a:solidFill>
                  <a:srgbClr val="C62828"/>
                </a:solidFill>
                <a:latin typeface="Segoe UI"/>
              </a:defRPr>
            </a:pPr>
            <a:r>
              <a:t>60-70% Effort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8120" y="1911096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VCS: gold-standard SystemVerilog/UVM simulator. 60-70% of chip design effort is verification. Massive testbench investments lock customers in.</a:t>
            </a:r>
          </a:p>
        </p:txBody>
      </p:sp>
      <p:sp>
        <p:nvSpPr>
          <p:cNvPr id="45" name="Down Arrow 44"/>
          <p:cNvSpPr/>
          <p:nvPr/>
        </p:nvSpPr>
        <p:spPr>
          <a:xfrm>
            <a:off x="10844784" y="2761488"/>
            <a:ext cx="164592" cy="228600"/>
          </a:xfrm>
          <a:prstGeom prst="down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680960" y="3008376"/>
            <a:ext cx="649224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A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790688" y="3118104"/>
            <a:ext cx="292608" cy="292608"/>
          </a:xfrm>
          <a:prstGeom prst="ellipse">
            <a:avLst/>
          </a:prstGeom>
          <a:solidFill>
            <a:srgbClr val="F0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38160" y="3081528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Formal Verification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18120" y="3392424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VC Formal: property checking, equivalence checking. SpyGlass: RTL lint, CDC, RDC analysis. Mathematical proof of correctness.</a:t>
            </a:r>
          </a:p>
        </p:txBody>
      </p:sp>
      <p:sp>
        <p:nvSpPr>
          <p:cNvPr id="50" name="Down Arrow 49"/>
          <p:cNvSpPr/>
          <p:nvPr/>
        </p:nvSpPr>
        <p:spPr>
          <a:xfrm>
            <a:off x="10844784" y="4242816"/>
            <a:ext cx="164592" cy="228600"/>
          </a:xfrm>
          <a:prstGeom prst="down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7680960" y="4489704"/>
            <a:ext cx="649224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A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790688" y="4599432"/>
            <a:ext cx="292608" cy="292608"/>
          </a:xfrm>
          <a:prstGeom prst="ellipse">
            <a:avLst/>
          </a:prstGeom>
          <a:solidFill>
            <a:srgbClr val="F0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0" y="4562856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Debug &amp; Analysis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18120" y="4873752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Verdi: waveform debug across all verification engines. Deep integration with VCS creates unified debug experience. SpyGlass early checks.</a:t>
            </a:r>
          </a:p>
        </p:txBody>
      </p:sp>
      <p:sp>
        <p:nvSpPr>
          <p:cNvPr id="55" name="Down Arrow 54"/>
          <p:cNvSpPr/>
          <p:nvPr/>
        </p:nvSpPr>
        <p:spPr>
          <a:xfrm>
            <a:off x="10844784" y="5724144"/>
            <a:ext cx="164592" cy="228600"/>
          </a:xfrm>
          <a:prstGeom prst="down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680960" y="5971032"/>
            <a:ext cx="649224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A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790688" y="6080760"/>
            <a:ext cx="292608" cy="292608"/>
          </a:xfrm>
          <a:prstGeom prst="ellipse">
            <a:avLst/>
          </a:prstGeom>
          <a:solidFill>
            <a:srgbClr val="F0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38160" y="6044184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Emulation &amp; Prototyping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3258800" y="6062472"/>
            <a:ext cx="777240" cy="201168"/>
          </a:xfrm>
          <a:prstGeom prst="roundRect">
            <a:avLst>
              <a:gd name="adj" fmla="val 5000"/>
            </a:avLst>
          </a:prstGeom>
          <a:solidFill>
            <a:srgbClr val="FFF8E1"/>
          </a:solidFill>
          <a:ln w="12700">
            <a:solidFill>
              <a:srgbClr val="E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 b="1">
                <a:solidFill>
                  <a:srgbClr val="E68A00"/>
                </a:solidFill>
                <a:latin typeface="Segoe UI"/>
              </a:defRPr>
            </a:pPr>
            <a:r>
              <a:t>Hardware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18120" y="6355080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ZeBu: hardware emulation ($5-30M systems). HAPS: FPGA prototyping for software bring-up. Multi-year depreciation cycles.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7086600" y="2061972"/>
            <a:ext cx="457200" cy="164592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Left Arrow 61"/>
          <p:cNvSpPr/>
          <p:nvPr/>
        </p:nvSpPr>
        <p:spPr>
          <a:xfrm>
            <a:off x="7086600" y="2263140"/>
            <a:ext cx="457200" cy="164592"/>
          </a:xfrm>
          <a:prstGeom prst="leftArrow">
            <a:avLst/>
          </a:prstGeom>
          <a:solidFill>
            <a:srgbClr val="5A6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ight Arrow 62"/>
          <p:cNvSpPr/>
          <p:nvPr/>
        </p:nvSpPr>
        <p:spPr>
          <a:xfrm>
            <a:off x="7086600" y="3543300"/>
            <a:ext cx="457200" cy="164592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Left Arrow 63"/>
          <p:cNvSpPr/>
          <p:nvPr/>
        </p:nvSpPr>
        <p:spPr>
          <a:xfrm>
            <a:off x="7086600" y="3744468"/>
            <a:ext cx="457200" cy="164592"/>
          </a:xfrm>
          <a:prstGeom prst="leftArrow">
            <a:avLst/>
          </a:prstGeom>
          <a:solidFill>
            <a:srgbClr val="5A6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ight Arrow 64"/>
          <p:cNvSpPr/>
          <p:nvPr/>
        </p:nvSpPr>
        <p:spPr>
          <a:xfrm>
            <a:off x="7086600" y="5024628"/>
            <a:ext cx="457200" cy="164592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Left Arrow 65"/>
          <p:cNvSpPr/>
          <p:nvPr/>
        </p:nvSpPr>
        <p:spPr>
          <a:xfrm>
            <a:off x="7086600" y="5225796"/>
            <a:ext cx="457200" cy="164592"/>
          </a:xfrm>
          <a:prstGeom prst="leftArrow">
            <a:avLst/>
          </a:prstGeom>
          <a:solidFill>
            <a:srgbClr val="5A6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ight Arrow 66"/>
          <p:cNvSpPr/>
          <p:nvPr/>
        </p:nvSpPr>
        <p:spPr>
          <a:xfrm>
            <a:off x="7086600" y="6505956"/>
            <a:ext cx="457200" cy="164592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Left Arrow 67"/>
          <p:cNvSpPr/>
          <p:nvPr/>
        </p:nvSpPr>
        <p:spPr>
          <a:xfrm>
            <a:off x="7086600" y="6707124"/>
            <a:ext cx="457200" cy="164592"/>
          </a:xfrm>
          <a:prstGeom prst="leftArrow">
            <a:avLst/>
          </a:prstGeom>
          <a:solidFill>
            <a:srgbClr val="5A6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57200" y="7278624"/>
            <a:ext cx="13716000" cy="594360"/>
          </a:xfrm>
          <a:prstGeom prst="roundRect">
            <a:avLst>
              <a:gd name="adj" fmla="val 12000"/>
            </a:avLst>
          </a:prstGeom>
          <a:solidFill>
            <a:srgbClr val="0D472B"/>
          </a:solidFill>
          <a:ln w="25400">
            <a:solidFill>
              <a:srgbClr val="D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73334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DC3C3C"/>
                </a:solidFill>
                <a:latin typeface="Segoe UI"/>
              </a:defRPr>
            </a:pPr>
            <a:r>
              <a:t>DESIGNWARE IP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080" y="7571232"/>
            <a:ext cx="1335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5D6A7"/>
                </a:solidFill>
                <a:latin typeface="Segoe UI"/>
              </a:defRPr>
            </a:pPr>
            <a:r>
              <a:t>USB  •  PCIe  •  DDR  •  Ethernet  •  HDMI  •  ARC Processors  •  RISC-V  •  Security IP  •  Foundation IP  •  Multi-generation lock-in  •  Royalty revenue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7200" y="7936992"/>
            <a:ext cx="13716000" cy="594360"/>
          </a:xfrm>
          <a:prstGeom prst="roundRect">
            <a:avLst>
              <a:gd name="adj" fmla="val 12000"/>
            </a:avLst>
          </a:prstGeom>
          <a:solidFill>
            <a:srgbClr val="0D472B"/>
          </a:solidFill>
          <a:ln w="25400">
            <a:solidFill>
              <a:srgbClr val="D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080" y="799185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DC3C3C"/>
                </a:solidFill>
                <a:latin typeface="Segoe UI"/>
              </a:defRPr>
            </a:pPr>
            <a:r>
              <a:t>SENTAURUS TCAD + SLM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0080" y="8229600"/>
            <a:ext cx="1335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5D6A7"/>
                </a:solidFill>
                <a:latin typeface="Segoe UI"/>
              </a:defRPr>
            </a:pPr>
            <a:r>
              <a:t>Semiconductor process simulation  •  Device physics for foundries  •  Silicon.da analytics  •  In-chip monitoring  •  Design-to-silicon feedback  •  Upstream advantage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36576"/>
          </a:xfrm>
          <a:prstGeom prst="rect">
            <a:avLst/>
          </a:prstGeom>
          <a:solidFill>
            <a:srgbClr val="81B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1B622"/>
                </a:solidFill>
                <a:latin typeface="Segoe UI"/>
              </a:defRPr>
            </a:pPr>
            <a:r>
              <a:t>CADENCE DESIGN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Process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3A6"/>
                </a:solidFill>
                <a:latin typeface="Segoe UI"/>
              </a:defRPr>
            </a:pPr>
            <a:r>
              <a:t>Chip to System  |  Analog-Centric Platform  |  vs. Synopsys / Siemens EDA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612880" y="137160"/>
            <a:ext cx="2560320" cy="256032"/>
          </a:xfrm>
          <a:prstGeom prst="roundRect">
            <a:avLst>
              <a:gd name="adj" fmla="val 20000"/>
            </a:avLst>
          </a:prstGeom>
          <a:solidFill>
            <a:srgbClr val="12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22608" y="210312"/>
            <a:ext cx="109728" cy="109728"/>
          </a:xfrm>
          <a:prstGeom prst="ellipse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68912" y="1645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A93A6"/>
                </a:solidFill>
                <a:latin typeface="Segoe UI"/>
              </a:defRPr>
            </a:pPr>
            <a:r>
              <a:t>High</a:t>
            </a:r>
          </a:p>
        </p:txBody>
      </p:sp>
      <p:sp>
        <p:nvSpPr>
          <p:cNvPr id="9" name="Oval 8"/>
          <p:cNvSpPr/>
          <p:nvPr/>
        </p:nvSpPr>
        <p:spPr>
          <a:xfrm>
            <a:off x="12545568" y="210312"/>
            <a:ext cx="109728" cy="109728"/>
          </a:xfrm>
          <a:prstGeom prst="ellipse">
            <a:avLst/>
          </a:prstGeom>
          <a:solidFill>
            <a:srgbClr val="F0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91872" y="1645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A93A6"/>
                </a:solidFill>
                <a:latin typeface="Segoe UI"/>
              </a:defRPr>
            </a:pPr>
            <a:r>
              <a:t>Medium</a:t>
            </a:r>
          </a:p>
        </p:txBody>
      </p:sp>
      <p:sp>
        <p:nvSpPr>
          <p:cNvPr id="11" name="Oval 10"/>
          <p:cNvSpPr/>
          <p:nvPr/>
        </p:nvSpPr>
        <p:spPr>
          <a:xfrm>
            <a:off x="13505688" y="210312"/>
            <a:ext cx="109728" cy="109728"/>
          </a:xfrm>
          <a:prstGeom prst="ellipse">
            <a:avLst/>
          </a:prstGeom>
          <a:solidFill>
            <a:srgbClr val="B8C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651992" y="1645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8A93A6"/>
                </a:solidFill>
                <a:latin typeface="Segoe UI"/>
              </a:defRPr>
            </a:pPr>
            <a:r>
              <a:t>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097280"/>
            <a:ext cx="13716000" cy="32004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133856"/>
            <a:ext cx="1344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DIGITAL 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0" y="113385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8A93A6"/>
                </a:solidFill>
                <a:latin typeface="Segoe UI"/>
              </a:defRPr>
            </a:pPr>
            <a:r>
              <a:t>RTL to GDSII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1527048"/>
            <a:ext cx="4498848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A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1636776"/>
            <a:ext cx="292608" cy="292608"/>
          </a:xfrm>
          <a:prstGeom prst="ellipse">
            <a:avLst/>
          </a:prstGeom>
          <a:solidFill>
            <a:srgbClr val="F0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600200"/>
            <a:ext cx="39502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Genus Synthesis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1911096"/>
            <a:ext cx="42245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RTL → gate-level netlist. Competing with Synopsys Design Compiler. Gaining share. Tightly integrated with Innovus downstream.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956048" y="2061972"/>
            <a:ext cx="164592" cy="164592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65776" y="1527048"/>
            <a:ext cx="4498848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A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175504" y="1636776"/>
            <a:ext cx="292608" cy="292608"/>
          </a:xfrm>
          <a:prstGeom prst="ellipse">
            <a:avLst/>
          </a:prstGeom>
          <a:solidFill>
            <a:srgbClr val="F0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22976" y="1600200"/>
            <a:ext cx="39502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Innovus Implementation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02936" y="1911096"/>
            <a:ext cx="42245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Place &amp; route. Concurrent multi-objective optimization (timing, power, area, SI). Leading PPA at advanced nodes. Competes with ICC2.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564624" y="2061972"/>
            <a:ext cx="164592" cy="164592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674352" y="1527048"/>
            <a:ext cx="4498848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B8C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784080" y="1636776"/>
            <a:ext cx="292608" cy="292608"/>
          </a:xfrm>
          <a:prstGeom prst="ellipse">
            <a:avLst/>
          </a:prstGeom>
          <a:solidFill>
            <a:srgbClr val="B8C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31552" y="1600200"/>
            <a:ext cx="39502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Cerebrus AI Explorer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3258800" y="1618488"/>
            <a:ext cx="777240" cy="201168"/>
          </a:xfrm>
          <a:prstGeom prst="roundRect">
            <a:avLst>
              <a:gd name="adj" fmla="val 5000"/>
            </a:avLst>
          </a:prstGeom>
          <a:solidFill>
            <a:srgbClr val="F0F0F0"/>
          </a:solidFill>
          <a:ln w="1270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 b="1">
                <a:solidFill>
                  <a:srgbClr val="757575"/>
                </a:solidFill>
                <a:latin typeface="Segoe UI"/>
              </a:defRPr>
            </a:pPr>
            <a:r>
              <a:t>AI/ML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1512" y="1911096"/>
            <a:ext cx="42245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ML-driven autonomous design space exploration. Wraps Genus + Innovus + Tempus + Voltus. Requires full Cadence flow — creates pull-through.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2624328" y="2788920"/>
            <a:ext cx="164592" cy="228600"/>
          </a:xfrm>
          <a:prstGeom prst="down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wn Arrow 31"/>
          <p:cNvSpPr/>
          <p:nvPr/>
        </p:nvSpPr>
        <p:spPr>
          <a:xfrm>
            <a:off x="7232904" y="2788920"/>
            <a:ext cx="164592" cy="228600"/>
          </a:xfrm>
          <a:prstGeom prst="down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11841480" y="2788920"/>
            <a:ext cx="164592" cy="228600"/>
          </a:xfrm>
          <a:prstGeom prst="down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7200" y="3063240"/>
            <a:ext cx="3017520" cy="32004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309981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VERIFICATION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3493008"/>
            <a:ext cx="301752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A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66928" y="3602736"/>
            <a:ext cx="292608" cy="292608"/>
          </a:xfrm>
          <a:prstGeom prst="ellipse">
            <a:avLst/>
          </a:prstGeom>
          <a:solidFill>
            <a:srgbClr val="F0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35661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Xcelium Simulation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387705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SystemVerilog/UVM. Mixed-signal co-sim with Spectre is a key differentiator vs. Synopsys VCS.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1883664" y="4498848"/>
            <a:ext cx="164592" cy="228600"/>
          </a:xfrm>
          <a:prstGeom prst="down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4754880"/>
            <a:ext cx="301752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A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66928" y="4864608"/>
            <a:ext cx="292608" cy="292608"/>
          </a:xfrm>
          <a:prstGeom prst="ellipse">
            <a:avLst/>
          </a:prstGeom>
          <a:solidFill>
            <a:srgbClr val="F0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482803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JasperGold Formal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60320" y="4846320"/>
            <a:ext cx="777240" cy="201168"/>
          </a:xfrm>
          <a:prstGeom prst="roundRect">
            <a:avLst>
              <a:gd name="adj" fmla="val 5000"/>
            </a:avLst>
          </a:prstGeom>
          <a:solidFill>
            <a:srgbClr val="FFF8E1"/>
          </a:solidFill>
          <a:ln w="12700">
            <a:solidFill>
              <a:srgbClr val="E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 b="1">
                <a:solidFill>
                  <a:srgbClr val="E68A00"/>
                </a:solidFill>
                <a:latin typeface="Segoe UI"/>
              </a:defRPr>
            </a:pPr>
            <a:r>
              <a:t>Leader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" y="513892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Leader in formal verification. Property checking, security, connectivity. Deep methodology lock-in.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3511296" y="3913632"/>
            <a:ext cx="164592" cy="164592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ight Arrow 46"/>
          <p:cNvSpPr/>
          <p:nvPr/>
        </p:nvSpPr>
        <p:spPr>
          <a:xfrm>
            <a:off x="3511296" y="5175504"/>
            <a:ext cx="164592" cy="164592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703320" y="3063240"/>
            <a:ext cx="676656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8100">
            <a:solidFill>
              <a:srgbClr val="D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813048" y="3172968"/>
            <a:ext cx="292608" cy="292608"/>
          </a:xfrm>
          <a:prstGeom prst="ellipse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60520" y="313639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Virtuoso + Spectre  —  Custom / Analog IC Design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098280" y="3154680"/>
            <a:ext cx="1234440" cy="201168"/>
          </a:xfrm>
          <a:prstGeom prst="roundRect">
            <a:avLst>
              <a:gd name="adj" fmla="val 5000"/>
            </a:avLst>
          </a:prstGeom>
          <a:solidFill>
            <a:srgbClr val="FFEBEE"/>
          </a:solidFill>
          <a:ln w="127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 b="1">
                <a:solidFill>
                  <a:srgbClr val="C62828"/>
                </a:solidFill>
                <a:latin typeface="Segoe UI"/>
              </a:defRPr>
            </a:pPr>
            <a:r>
              <a:t>~75%+ Share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0480" y="3447288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Virtuoso Layout Suite: decades of accumulated PCells, design rules. Every foundry delivers analog PDKs targeting Virtuoso first.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79476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Spectre Simulation: foundry-qualified SPICE models validated against Spectre. ADE integration is seamless.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40480" y="414223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No credible alternative at scale. Synopsys Custom Compiler has minimal share. Switching = re-architecting everything.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40480" y="4489704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Mixed-signal bridge: Xcelium + Spectre co-simulation is a key differentiator — transistor to full-chip in one flow.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40480" y="4837176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As nodes shrink (3nm, 2nm), analog design gets harder — Virtuoso becomes MORE critical, not less. The moat is widening.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698480" y="3063240"/>
            <a:ext cx="3017520" cy="32004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835640" y="309981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SIGNOFF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698480" y="3493008"/>
            <a:ext cx="301752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A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808208" y="3602736"/>
            <a:ext cx="292608" cy="292608"/>
          </a:xfrm>
          <a:prstGeom prst="ellipse">
            <a:avLst/>
          </a:prstGeom>
          <a:solidFill>
            <a:srgbClr val="F0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155680" y="35661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Tempus Timing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801600" y="3584448"/>
            <a:ext cx="777240" cy="201168"/>
          </a:xfrm>
          <a:prstGeom prst="roundRect">
            <a:avLst>
              <a:gd name="adj" fmla="val 5000"/>
            </a:avLst>
          </a:prstGeom>
          <a:solidFill>
            <a:srgbClr val="FFF8E1"/>
          </a:solidFill>
          <a:ln w="12700">
            <a:solidFill>
              <a:srgbClr val="E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 b="1">
                <a:solidFill>
                  <a:srgbClr val="E68A00"/>
                </a:solidFill>
                <a:latin typeface="Segoe UI"/>
              </a:defRPr>
            </a:pPr>
            <a:r>
              <a:t>Challenger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387705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Static timing analysis. Gaining ground vs. Synopsys PrimeTime. Tighter Innovus integration. Foundries increasingly qualify both.</a:t>
            </a:r>
          </a:p>
        </p:txBody>
      </p:sp>
      <p:sp>
        <p:nvSpPr>
          <p:cNvPr id="64" name="Down Arrow 63"/>
          <p:cNvSpPr/>
          <p:nvPr/>
        </p:nvSpPr>
        <p:spPr>
          <a:xfrm>
            <a:off x="12124944" y="4498848"/>
            <a:ext cx="164592" cy="228600"/>
          </a:xfrm>
          <a:prstGeom prst="down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0698480" y="4754880"/>
            <a:ext cx="301752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A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0808208" y="4864608"/>
            <a:ext cx="292608" cy="292608"/>
          </a:xfrm>
          <a:prstGeom prst="ellipse">
            <a:avLst/>
          </a:prstGeom>
          <a:solidFill>
            <a:srgbClr val="F0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482803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Voltus Power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835640" y="513892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IR drop, electromigration, dynamic power. Embedded in Innovus for in-design analysis. Standalone for signoff quality.</a:t>
            </a:r>
          </a:p>
        </p:txBody>
      </p:sp>
      <p:sp>
        <p:nvSpPr>
          <p:cNvPr id="69" name="Left Arrow 68"/>
          <p:cNvSpPr/>
          <p:nvPr/>
        </p:nvSpPr>
        <p:spPr>
          <a:xfrm>
            <a:off x="10497312" y="3913632"/>
            <a:ext cx="164592" cy="164592"/>
          </a:xfrm>
          <a:prstGeom prst="lef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Left Arrow 69"/>
          <p:cNvSpPr/>
          <p:nvPr/>
        </p:nvSpPr>
        <p:spPr>
          <a:xfrm>
            <a:off x="10497312" y="5175504"/>
            <a:ext cx="164592" cy="164592"/>
          </a:xfrm>
          <a:prstGeom prst="lef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Up Arrow 70"/>
          <p:cNvSpPr/>
          <p:nvPr/>
        </p:nvSpPr>
        <p:spPr>
          <a:xfrm>
            <a:off x="2624328" y="5422392"/>
            <a:ext cx="164592" cy="228600"/>
          </a:xfrm>
          <a:prstGeom prst="up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Up Arrow 71"/>
          <p:cNvSpPr/>
          <p:nvPr/>
        </p:nvSpPr>
        <p:spPr>
          <a:xfrm>
            <a:off x="7232904" y="5422392"/>
            <a:ext cx="164592" cy="228600"/>
          </a:xfrm>
          <a:prstGeom prst="up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Up Arrow 72"/>
          <p:cNvSpPr/>
          <p:nvPr/>
        </p:nvSpPr>
        <p:spPr>
          <a:xfrm>
            <a:off x="11841480" y="5422392"/>
            <a:ext cx="164592" cy="228600"/>
          </a:xfrm>
          <a:prstGeom prst="up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457200" y="5696712"/>
            <a:ext cx="13716000" cy="32004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94360" y="5733288"/>
            <a:ext cx="1344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PCB &amp; SYSTEM  —  Chip to Board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161520" y="573328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8A93A6"/>
                </a:solidFill>
                <a:latin typeface="Segoe UI"/>
              </a:defRPr>
            </a:pPr>
            <a:r>
              <a:t>Unique to Cadence  |  No Synopsys Equivalent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6126480"/>
            <a:ext cx="4498848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D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66928" y="6236208"/>
            <a:ext cx="292608" cy="292608"/>
          </a:xfrm>
          <a:prstGeom prst="ellipse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" y="6199632"/>
            <a:ext cx="39502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Allegro PCB Designer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041648" y="6217920"/>
            <a:ext cx="777240" cy="201168"/>
          </a:xfrm>
          <a:prstGeom prst="roundRect">
            <a:avLst>
              <a:gd name="adj" fmla="val 5000"/>
            </a:avLst>
          </a:prstGeom>
          <a:solidFill>
            <a:srgbClr val="FFEBEE"/>
          </a:solidFill>
          <a:ln w="127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 b="1">
                <a:solidFill>
                  <a:srgbClr val="C62828"/>
                </a:solidFill>
                <a:latin typeface="Segoe UI"/>
              </a:defRPr>
            </a:pPr>
            <a:r>
              <a:t>Dominant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4360" y="6510528"/>
            <a:ext cx="42245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High-end PCB layout. Dominates complex high-speed boards (networking, server, automotive). Deep constraint management. Library lock-in.</a:t>
            </a:r>
          </a:p>
        </p:txBody>
      </p:sp>
      <p:sp>
        <p:nvSpPr>
          <p:cNvPr id="82" name="Right Arrow 81"/>
          <p:cNvSpPr/>
          <p:nvPr/>
        </p:nvSpPr>
        <p:spPr>
          <a:xfrm>
            <a:off x="4956048" y="6661404"/>
            <a:ext cx="164592" cy="164592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5065776" y="6126480"/>
            <a:ext cx="4498848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A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175504" y="6236208"/>
            <a:ext cx="292608" cy="292608"/>
          </a:xfrm>
          <a:prstGeom prst="ellipse">
            <a:avLst/>
          </a:prstGeom>
          <a:solidFill>
            <a:srgbClr val="F0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22976" y="6199632"/>
            <a:ext cx="39502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Sigrity SI/PI Analysis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202936" y="6510528"/>
            <a:ext cx="42245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Signal integrity, power integrity for PCBs and packages. Closed-loop with Allegro. Pre- and post-layout analysis.</a:t>
            </a:r>
          </a:p>
        </p:txBody>
      </p:sp>
      <p:sp>
        <p:nvSpPr>
          <p:cNvPr id="87" name="Right Arrow 86"/>
          <p:cNvSpPr/>
          <p:nvPr/>
        </p:nvSpPr>
        <p:spPr>
          <a:xfrm>
            <a:off x="9564624" y="6661404"/>
            <a:ext cx="164592" cy="164592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9674352" y="6126480"/>
            <a:ext cx="4498848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B8C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784080" y="6236208"/>
            <a:ext cx="292608" cy="292608"/>
          </a:xfrm>
          <a:prstGeom prst="ellipse">
            <a:avLst/>
          </a:prstGeom>
          <a:solidFill>
            <a:srgbClr val="B8C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131552" y="6199632"/>
            <a:ext cx="39502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Segoe UI"/>
              </a:defRPr>
            </a:pPr>
            <a:r>
              <a:t>Celsius Thermal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811512" y="6510528"/>
            <a:ext cx="42245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378"/>
                </a:solidFill>
                <a:latin typeface="Segoe UI"/>
              </a:defRPr>
            </a:pPr>
            <a:r>
              <a:t>Electro-thermal simulation across IC, package, board. Full system thermal analysis. Newer product expanding the platform.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57200" y="7498080"/>
            <a:ext cx="13716000" cy="594360"/>
          </a:xfrm>
          <a:prstGeom prst="roundRect">
            <a:avLst>
              <a:gd name="adj" fmla="val 12000"/>
            </a:avLst>
          </a:prstGeom>
          <a:solidFill>
            <a:srgbClr val="0D472B"/>
          </a:solidFill>
          <a:ln w="25400">
            <a:solidFill>
              <a:srgbClr val="D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40080" y="755294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DC3C3C"/>
                </a:solidFill>
                <a:latin typeface="Segoe UI"/>
              </a:defRPr>
            </a:pPr>
            <a:r>
              <a:t>PALLADIUM + PROTIUM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0080" y="7790688"/>
            <a:ext cx="1335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5D6A7"/>
                </a:solidFill>
                <a:latin typeface="Segoe UI"/>
              </a:defRPr>
            </a:pPr>
            <a:r>
              <a:t>Hardware emulation ($5-30M)  •  FPGA prototyping  •  Multi-year lock-in  •  Co-leader with Synopsys ZeBu  •  Verification IP (VIP)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57200" y="8156448"/>
            <a:ext cx="13716000" cy="594360"/>
          </a:xfrm>
          <a:prstGeom prst="roundRect">
            <a:avLst>
              <a:gd name="adj" fmla="val 12000"/>
            </a:avLst>
          </a:prstGeom>
          <a:solidFill>
            <a:srgbClr val="0D472B"/>
          </a:solidFill>
          <a:ln w="25400">
            <a:solidFill>
              <a:srgbClr val="F0A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0080" y="821131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0A820"/>
                </a:solidFill>
                <a:latin typeface="Segoe UI"/>
              </a:defRPr>
            </a:pPr>
            <a:r>
              <a:t>TENSILICA IP + DESIGN IP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40080" y="8449056"/>
            <a:ext cx="1335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5D6A7"/>
                </a:solidFill>
                <a:latin typeface="Segoe UI"/>
              </a:defRPr>
            </a:pPr>
            <a:r>
              <a:t>Tensilica DSP/AI processors  •  Interface PHYs (DDR, PCIe, USB)  •  Memory compilers  •  Quantus extraction  •  Pegasus DRC/LVS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