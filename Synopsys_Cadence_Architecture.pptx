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36576"/>
          </a:xfrm>
          <a:prstGeom prst="rect">
            <a:avLst/>
          </a:prstGeom>
          <a:solidFill>
            <a:srgbClr val="4DA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DA8DA"/>
                </a:solidFill>
                <a:latin typeface="Segoe UI"/>
              </a:defRPr>
            </a:pPr>
            <a:r>
              <a:t>SYNOPSYS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Process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3A6"/>
                </a:solidFill>
                <a:latin typeface="Segoe UI"/>
              </a:defRPr>
            </a:pPr>
            <a:r>
              <a:t>8 core areas  |  RTL to GDSII  |  vs. Cadence / Siemens EDA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612880" y="137160"/>
            <a:ext cx="2560320" cy="256032"/>
          </a:xfrm>
          <a:prstGeom prst="roundRect">
            <a:avLst>
              <a:gd name="adj" fmla="val 20000"/>
            </a:avLst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22608" y="210312"/>
            <a:ext cx="109728" cy="109728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68912" y="1645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A93A6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9" name="Oval 8"/>
          <p:cNvSpPr/>
          <p:nvPr/>
        </p:nvSpPr>
        <p:spPr>
          <a:xfrm>
            <a:off x="12545568" y="210312"/>
            <a:ext cx="109728" cy="109728"/>
          </a:xfrm>
          <a:prstGeom prst="ellipse">
            <a:avLst/>
          </a:prstGeom>
          <a:solidFill>
            <a:srgbClr val="F0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91872" y="1645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A93A6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11" name="Oval 10"/>
          <p:cNvSpPr/>
          <p:nvPr/>
        </p:nvSpPr>
        <p:spPr>
          <a:xfrm>
            <a:off x="13505688" y="210312"/>
            <a:ext cx="109728" cy="109728"/>
          </a:xfrm>
          <a:prstGeom prst="ellipse">
            <a:avLst/>
          </a:prstGeom>
          <a:solidFill>
            <a:srgbClr val="B8C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651992" y="1645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A93A6"/>
                </a:solidFill>
                <a:latin typeface="Segoe UI"/>
              </a:defRPr>
            </a:pPr>
            <a:r>
              <a:t>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051560"/>
            <a:ext cx="6492240" cy="32004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088136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DESIGN PIPELINE  —  RTL to GDSII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0881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A93A6"/>
                </a:solidFill>
                <a:latin typeface="Segoe UI"/>
              </a:defRPr>
            </a:pPr>
            <a:r>
              <a:t>Sequential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463040"/>
            <a:ext cx="6492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D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1572768"/>
            <a:ext cx="292608" cy="292608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53619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Logic Synthesis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1554480"/>
            <a:ext cx="777240" cy="201168"/>
          </a:xfrm>
          <a:prstGeom prst="roundRect">
            <a:avLst>
              <a:gd name="adj" fmla="val 5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C62828"/>
                </a:solidFill>
                <a:latin typeface="Segoe UI"/>
              </a:defRPr>
            </a:pPr>
            <a:r>
              <a:t>SDC Standard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1847088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RTL → gate-level netlist. SDC constraints (Synopsys-created IEEE standard). Technology mapping to foundry PDK. Fusion Compiler unifies with P&amp;R.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3621024" y="2578608"/>
            <a:ext cx="164592" cy="228600"/>
          </a:xfrm>
          <a:prstGeom prst="down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2852928"/>
            <a:ext cx="6492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F0A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6928" y="2962656"/>
            <a:ext cx="292608" cy="292608"/>
          </a:xfrm>
          <a:prstGeom prst="ellipse">
            <a:avLst/>
          </a:prstGeom>
          <a:solidFill>
            <a:srgbClr val="F0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9260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Place &amp; 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236976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IC Compiler II: floorplanning → placement → CTS → routing. Fusion Compiler merges with synthesis for physical-aware optimization.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3621024" y="3968496"/>
            <a:ext cx="164592" cy="228600"/>
          </a:xfrm>
          <a:prstGeom prst="down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4242816"/>
            <a:ext cx="6492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D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6928" y="4352544"/>
            <a:ext cx="292608" cy="292608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31596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Extraction + Timing Signoff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4334256"/>
            <a:ext cx="777240" cy="201168"/>
          </a:xfrm>
          <a:prstGeom prst="roundRect">
            <a:avLst>
              <a:gd name="adj" fmla="val 5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C62828"/>
                </a:solidFill>
                <a:latin typeface="Segoe UI"/>
              </a:defRPr>
            </a:pPr>
            <a:r>
              <a:t>Foundry Req'd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626864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StarRC parasitic extraction feeds PrimeTime. PrimeTime is foundry-mandated (TSMC, Samsung, Intel). The toll booth — no chip tapes out without it.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3621024" y="5358384"/>
            <a:ext cx="164592" cy="228600"/>
          </a:xfrm>
          <a:prstGeom prst="down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7200" y="5632704"/>
            <a:ext cx="6492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F0A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66928" y="5742432"/>
            <a:ext cx="292608" cy="292608"/>
          </a:xfrm>
          <a:prstGeom prst="ellipse">
            <a:avLst/>
          </a:prstGeom>
          <a:solidFill>
            <a:srgbClr val="F0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70585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Physical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016752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IC Validator: DRC, LVS, ERC. Checks layout against foundry manufacturing rules. Competes with Siemens Calibre (historical leader).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80960" y="1051560"/>
            <a:ext cx="6492240" cy="32004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18120" y="1088136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VERIFICATION CONTINUUM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0" y="10881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A93A6"/>
                </a:solidFill>
                <a:latin typeface="Segoe UI"/>
              </a:defRPr>
            </a:pPr>
            <a:r>
              <a:t>Parallel Track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80960" y="1463040"/>
            <a:ext cx="6492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D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790688" y="1572768"/>
            <a:ext cx="292608" cy="292608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153619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RTL Simulation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258800" y="1554480"/>
            <a:ext cx="777240" cy="201168"/>
          </a:xfrm>
          <a:prstGeom prst="roundRect">
            <a:avLst>
              <a:gd name="adj" fmla="val 5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C62828"/>
                </a:solidFill>
                <a:latin typeface="Segoe UI"/>
              </a:defRPr>
            </a:pPr>
            <a:r>
              <a:t>60-70% Effort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20" y="1847088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VCS: gold-standard SystemVerilog/UVM simulator. 60-70% of chip design effort is verification. Massive testbench investments lock customers in.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10844784" y="2578608"/>
            <a:ext cx="164592" cy="228600"/>
          </a:xfrm>
          <a:prstGeom prst="down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680960" y="2852928"/>
            <a:ext cx="6492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F0A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790688" y="2962656"/>
            <a:ext cx="292608" cy="292608"/>
          </a:xfrm>
          <a:prstGeom prst="ellipse">
            <a:avLst/>
          </a:prstGeom>
          <a:solidFill>
            <a:srgbClr val="F0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29260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Formal Verification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8120" y="3236976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VC Formal: property checking, equivalence checking. SpyGlass: RTL lint, CDC, RDC analysis. Mathematical proof of correctness.</a:t>
            </a:r>
          </a:p>
        </p:txBody>
      </p:sp>
      <p:sp>
        <p:nvSpPr>
          <p:cNvPr id="50" name="Down Arrow 49"/>
          <p:cNvSpPr/>
          <p:nvPr/>
        </p:nvSpPr>
        <p:spPr>
          <a:xfrm>
            <a:off x="10844784" y="3968496"/>
            <a:ext cx="164592" cy="228600"/>
          </a:xfrm>
          <a:prstGeom prst="down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680960" y="4242816"/>
            <a:ext cx="6492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F0A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790688" y="4352544"/>
            <a:ext cx="292608" cy="292608"/>
          </a:xfrm>
          <a:prstGeom prst="ellipse">
            <a:avLst/>
          </a:prstGeom>
          <a:solidFill>
            <a:srgbClr val="F0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431596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Debug &amp; Analysis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18120" y="4626864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Verdi: waveform debug across all verification engines. Deep integration with VCS creates unified debug experience. SpyGlass early checks.</a:t>
            </a:r>
          </a:p>
        </p:txBody>
      </p:sp>
      <p:sp>
        <p:nvSpPr>
          <p:cNvPr id="55" name="Down Arrow 54"/>
          <p:cNvSpPr/>
          <p:nvPr/>
        </p:nvSpPr>
        <p:spPr>
          <a:xfrm>
            <a:off x="10844784" y="5358384"/>
            <a:ext cx="164592" cy="228600"/>
          </a:xfrm>
          <a:prstGeom prst="down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680960" y="5632704"/>
            <a:ext cx="6492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F0A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90688" y="5742432"/>
            <a:ext cx="292608" cy="292608"/>
          </a:xfrm>
          <a:prstGeom prst="ellipse">
            <a:avLst/>
          </a:prstGeom>
          <a:solidFill>
            <a:srgbClr val="F0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38160" y="570585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Emulation &amp; Prototyping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3258800" y="5724144"/>
            <a:ext cx="777240" cy="201168"/>
          </a:xfrm>
          <a:prstGeom prst="roundRect">
            <a:avLst>
              <a:gd name="adj" fmla="val 5000"/>
            </a:avLst>
          </a:prstGeom>
          <a:solidFill>
            <a:srgbClr val="FFF8E1"/>
          </a:solidFill>
          <a:ln w="1270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E68A00"/>
                </a:solidFill>
                <a:latin typeface="Segoe UI"/>
              </a:defRPr>
            </a:pPr>
            <a:r>
              <a:t>Hardware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18120" y="6016752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ZeBu: hardware emulation ($5-30M systems). HAPS: FPGA prototyping for software bring-up. Multi-year depreciation cycles.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7086600" y="1929384"/>
            <a:ext cx="457200" cy="164592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ft Arrow 61"/>
          <p:cNvSpPr/>
          <p:nvPr/>
        </p:nvSpPr>
        <p:spPr>
          <a:xfrm>
            <a:off x="7086600" y="2130552"/>
            <a:ext cx="457200" cy="164592"/>
          </a:xfrm>
          <a:prstGeom prst="leftArrow">
            <a:avLst/>
          </a:prstGeom>
          <a:solidFill>
            <a:srgbClr val="5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ight Arrow 62"/>
          <p:cNvSpPr/>
          <p:nvPr/>
        </p:nvSpPr>
        <p:spPr>
          <a:xfrm>
            <a:off x="7086600" y="3319272"/>
            <a:ext cx="457200" cy="164592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ft Arrow 63"/>
          <p:cNvSpPr/>
          <p:nvPr/>
        </p:nvSpPr>
        <p:spPr>
          <a:xfrm>
            <a:off x="7086600" y="3520440"/>
            <a:ext cx="457200" cy="164592"/>
          </a:xfrm>
          <a:prstGeom prst="leftArrow">
            <a:avLst/>
          </a:prstGeom>
          <a:solidFill>
            <a:srgbClr val="5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ight Arrow 64"/>
          <p:cNvSpPr/>
          <p:nvPr/>
        </p:nvSpPr>
        <p:spPr>
          <a:xfrm>
            <a:off x="7086600" y="4709160"/>
            <a:ext cx="457200" cy="164592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ft Arrow 65"/>
          <p:cNvSpPr/>
          <p:nvPr/>
        </p:nvSpPr>
        <p:spPr>
          <a:xfrm>
            <a:off x="7086600" y="4910328"/>
            <a:ext cx="457200" cy="164592"/>
          </a:xfrm>
          <a:prstGeom prst="leftArrow">
            <a:avLst/>
          </a:prstGeom>
          <a:solidFill>
            <a:srgbClr val="5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ight Arrow 66"/>
          <p:cNvSpPr/>
          <p:nvPr/>
        </p:nvSpPr>
        <p:spPr>
          <a:xfrm>
            <a:off x="7086600" y="6099048"/>
            <a:ext cx="457200" cy="164592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ft Arrow 67"/>
          <p:cNvSpPr/>
          <p:nvPr/>
        </p:nvSpPr>
        <p:spPr>
          <a:xfrm>
            <a:off x="7086600" y="6300216"/>
            <a:ext cx="457200" cy="164592"/>
          </a:xfrm>
          <a:prstGeom prst="leftArrow">
            <a:avLst/>
          </a:prstGeom>
          <a:solidFill>
            <a:srgbClr val="5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57200" y="6839712"/>
            <a:ext cx="13716000" cy="502920"/>
          </a:xfrm>
          <a:prstGeom prst="roundRect">
            <a:avLst>
              <a:gd name="adj" fmla="val 12000"/>
            </a:avLst>
          </a:prstGeom>
          <a:solidFill>
            <a:srgbClr val="0D2B47"/>
          </a:solidFill>
          <a:ln w="25400">
            <a:solidFill>
              <a:srgbClr val="D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" y="68762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A8DA"/>
                </a:solidFill>
                <a:latin typeface="Segoe UI"/>
              </a:defRPr>
            </a:pPr>
            <a:r>
              <a:t>DESIGNWARE IP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" y="7095744"/>
            <a:ext cx="1280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5CEE8"/>
                </a:solidFill>
                <a:latin typeface="Segoe UI"/>
              </a:defRPr>
            </a:pPr>
            <a:r>
              <a:t>USB  •  PCIe  •  DDR  •  Ethernet  •  HDMI  •  ARC Processors  •  RISC-V  •  Security IP  •  Foundation IP  •  Multi-generation lock-in  •  Royalty revenue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7200" y="7406640"/>
            <a:ext cx="13716000" cy="502920"/>
          </a:xfrm>
          <a:prstGeom prst="roundRect">
            <a:avLst>
              <a:gd name="adj" fmla="val 12000"/>
            </a:avLst>
          </a:prstGeom>
          <a:solidFill>
            <a:srgbClr val="0D2B47"/>
          </a:solidFill>
          <a:ln w="25400">
            <a:solidFill>
              <a:srgbClr val="D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0080" y="744321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A8DA"/>
                </a:solidFill>
                <a:latin typeface="Segoe UI"/>
              </a:defRPr>
            </a:pPr>
            <a:r>
              <a:t>SENTAURUS TCAD  +  SILICON LIFECYCLE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" y="7662672"/>
            <a:ext cx="1280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5CEE8"/>
                </a:solidFill>
                <a:latin typeface="Segoe UI"/>
              </a:defRPr>
            </a:pPr>
            <a:r>
              <a:t>Semiconductor process simulation  •  Device physics for foundries  •  Silicon.da analytics  •  In-chip monitoring  •  Design-to-silicon feedback  •  Upstream advantage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36576"/>
          </a:xfrm>
          <a:prstGeom prst="rect">
            <a:avLst/>
          </a:prstGeom>
          <a:solidFill>
            <a:srgbClr val="4DA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DA8DA"/>
                </a:solidFill>
                <a:latin typeface="Segoe UI"/>
              </a:defRPr>
            </a:pPr>
            <a:r>
              <a:t>CADENCE DESIGN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Process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3A6"/>
                </a:solidFill>
                <a:latin typeface="Segoe UI"/>
              </a:defRPr>
            </a:pPr>
            <a:r>
              <a:t>Chip to System  |  Analog-Centric Platform  |  vs. Synopsys / Siemens EDA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612880" y="137160"/>
            <a:ext cx="2560320" cy="256032"/>
          </a:xfrm>
          <a:prstGeom prst="roundRect">
            <a:avLst>
              <a:gd name="adj" fmla="val 20000"/>
            </a:avLst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22608" y="210312"/>
            <a:ext cx="109728" cy="109728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68912" y="1645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A93A6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9" name="Oval 8"/>
          <p:cNvSpPr/>
          <p:nvPr/>
        </p:nvSpPr>
        <p:spPr>
          <a:xfrm>
            <a:off x="12545568" y="210312"/>
            <a:ext cx="109728" cy="109728"/>
          </a:xfrm>
          <a:prstGeom prst="ellipse">
            <a:avLst/>
          </a:prstGeom>
          <a:solidFill>
            <a:srgbClr val="F0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91872" y="1645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A93A6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11" name="Oval 10"/>
          <p:cNvSpPr/>
          <p:nvPr/>
        </p:nvSpPr>
        <p:spPr>
          <a:xfrm>
            <a:off x="13505688" y="210312"/>
            <a:ext cx="109728" cy="109728"/>
          </a:xfrm>
          <a:prstGeom prst="ellipse">
            <a:avLst/>
          </a:prstGeom>
          <a:solidFill>
            <a:srgbClr val="B8C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651992" y="1645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A93A6"/>
                </a:solidFill>
                <a:latin typeface="Segoe UI"/>
              </a:defRPr>
            </a:pPr>
            <a:r>
              <a:t>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051560"/>
            <a:ext cx="13716000" cy="32004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088136"/>
            <a:ext cx="1344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DIGITAL 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0" y="10881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A93A6"/>
                </a:solidFill>
                <a:latin typeface="Segoe UI"/>
              </a:defRPr>
            </a:pPr>
            <a:r>
              <a:t>RTL to GDSII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444752"/>
            <a:ext cx="4498848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F0A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1554480"/>
            <a:ext cx="292608" cy="292608"/>
          </a:xfrm>
          <a:prstGeom prst="ellipse">
            <a:avLst/>
          </a:prstGeom>
          <a:solidFill>
            <a:srgbClr val="F0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517904"/>
            <a:ext cx="3950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Genus Synthesis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1828800"/>
            <a:ext cx="4224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RTL → gate-level netlist. Competing with Synopsys Design Compiler. Gaining share. Tightly integrated with Innovus downstream.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56048" y="1888236"/>
            <a:ext cx="164592" cy="164592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65776" y="1444752"/>
            <a:ext cx="4498848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F0A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75504" y="1554480"/>
            <a:ext cx="292608" cy="292608"/>
          </a:xfrm>
          <a:prstGeom prst="ellipse">
            <a:avLst/>
          </a:prstGeom>
          <a:solidFill>
            <a:srgbClr val="F0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22976" y="1517904"/>
            <a:ext cx="3950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Innovus Implementation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2936" y="1828800"/>
            <a:ext cx="4224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Place &amp; route. Concurrent multi-objective optimization (timing, power, area, SI). Leading PPA at advanced nodes. Competes with ICC2.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564624" y="1888236"/>
            <a:ext cx="164592" cy="164592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74352" y="1444752"/>
            <a:ext cx="4498848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B8C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784080" y="1554480"/>
            <a:ext cx="292608" cy="292608"/>
          </a:xfrm>
          <a:prstGeom prst="ellipse">
            <a:avLst/>
          </a:prstGeom>
          <a:solidFill>
            <a:srgbClr val="B8C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31552" y="1517904"/>
            <a:ext cx="3950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Cerebrus AI Explorer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258800" y="1536192"/>
            <a:ext cx="777240" cy="201168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 w="127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757575"/>
                </a:solidFill>
                <a:latin typeface="Segoe UI"/>
              </a:defRPr>
            </a:pPr>
            <a:r>
              <a:t>AI/ML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1512" y="1828800"/>
            <a:ext cx="4224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ML-driven autonomous design space exploration. Wraps Genus + Innovus + Tempus + Voltus. Requires full Cadence flow — creates pull-through.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2624328" y="2569464"/>
            <a:ext cx="164592" cy="228600"/>
          </a:xfrm>
          <a:prstGeom prst="down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own Arrow 31"/>
          <p:cNvSpPr/>
          <p:nvPr/>
        </p:nvSpPr>
        <p:spPr>
          <a:xfrm>
            <a:off x="7232904" y="2569464"/>
            <a:ext cx="164592" cy="228600"/>
          </a:xfrm>
          <a:prstGeom prst="down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own Arrow 32"/>
          <p:cNvSpPr/>
          <p:nvPr/>
        </p:nvSpPr>
        <p:spPr>
          <a:xfrm>
            <a:off x="11841480" y="2569464"/>
            <a:ext cx="164592" cy="228600"/>
          </a:xfrm>
          <a:prstGeom prst="down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7200" y="2862072"/>
            <a:ext cx="3017520" cy="32004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28986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VERIFICATION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255264"/>
            <a:ext cx="30175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F0A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66928" y="3364992"/>
            <a:ext cx="292608" cy="292608"/>
          </a:xfrm>
          <a:prstGeom prst="ellipse">
            <a:avLst/>
          </a:prstGeom>
          <a:solidFill>
            <a:srgbClr val="F0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33284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Xcelium Simulation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363931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SystemVerilog/UVM. Mixed-signal co-sim with Spectre is a key differentiator vs. Synopsys VCS.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1883664" y="4233672"/>
            <a:ext cx="164592" cy="228600"/>
          </a:xfrm>
          <a:prstGeom prst="down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4471416"/>
            <a:ext cx="30175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F0A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6928" y="4581144"/>
            <a:ext cx="292608" cy="292608"/>
          </a:xfrm>
          <a:prstGeom prst="ellipse">
            <a:avLst/>
          </a:prstGeom>
          <a:solidFill>
            <a:srgbClr val="F0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5445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JasperGold Formal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60320" y="4562856"/>
            <a:ext cx="777240" cy="201168"/>
          </a:xfrm>
          <a:prstGeom prst="roundRect">
            <a:avLst>
              <a:gd name="adj" fmla="val 5000"/>
            </a:avLst>
          </a:prstGeom>
          <a:solidFill>
            <a:srgbClr val="FFF8E1"/>
          </a:solidFill>
          <a:ln w="1270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E68A00"/>
                </a:solidFill>
                <a:latin typeface="Segoe UI"/>
              </a:defRPr>
            </a:pPr>
            <a:r>
              <a:t>Leader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4855464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Leader in formal verification. Property checking, security, connectivity. Deep methodology lock-in.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3511296" y="3653028"/>
            <a:ext cx="164592" cy="164592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ight Arrow 46"/>
          <p:cNvSpPr/>
          <p:nvPr/>
        </p:nvSpPr>
        <p:spPr>
          <a:xfrm>
            <a:off x="3511296" y="4869180"/>
            <a:ext cx="164592" cy="164592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703320" y="2862072"/>
            <a:ext cx="676656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4450">
            <a:solidFill>
              <a:srgbClr val="D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886200" y="3044952"/>
            <a:ext cx="457200" cy="457200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HUB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304495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Segoe UI"/>
              </a:defRPr>
            </a:pPr>
            <a:r>
              <a:t>Virtuoso + Spectre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34840" y="3410712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A6378"/>
                </a:solidFill>
                <a:latin typeface="Segoe UI"/>
              </a:defRPr>
            </a:pPr>
            <a:r>
              <a:t>Custom / Analog IC Design  •  ~75%+ Market Share  •  The Gravitational Center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06840" y="3044952"/>
            <a:ext cx="1280160" cy="256032"/>
          </a:xfrm>
          <a:prstGeom prst="roundRect">
            <a:avLst>
              <a:gd name="adj" fmla="val 30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C62828"/>
                </a:solidFill>
                <a:latin typeface="Segoe UI"/>
              </a:defRPr>
            </a:pPr>
            <a:r>
              <a:t>Unassailable Moat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77640" y="37764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Virtuoso Layout Suite: decades of accumulated PCells, design rules. Every foundry delivers analog PDKs targeting Virtuoso first.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77640" y="40690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Spectre Simulation: foundry-qualified SPICE models validated against Spectre. ADE integration is seamless.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77640" y="43616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No credible alternative at scale. Synopsys Custom Compiler has minimal share. Switching = re-architecting everything.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77640" y="465429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Mixed-signal bridge: Xcelium + Spectre co-simulation is a key differentiator — transistor to full-chip in one flow.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698480" y="2862072"/>
            <a:ext cx="3017520" cy="32004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835640" y="28986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SIGNOFF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698480" y="3255264"/>
            <a:ext cx="30175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F0A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808208" y="3364992"/>
            <a:ext cx="292608" cy="292608"/>
          </a:xfrm>
          <a:prstGeom prst="ellipse">
            <a:avLst/>
          </a:prstGeom>
          <a:solidFill>
            <a:srgbClr val="F0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55680" y="33284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Tempus Timing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801600" y="3346704"/>
            <a:ext cx="777240" cy="201168"/>
          </a:xfrm>
          <a:prstGeom prst="roundRect">
            <a:avLst>
              <a:gd name="adj" fmla="val 5000"/>
            </a:avLst>
          </a:prstGeom>
          <a:solidFill>
            <a:srgbClr val="FFF8E1"/>
          </a:solidFill>
          <a:ln w="1270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E68A00"/>
                </a:solidFill>
                <a:latin typeface="Segoe UI"/>
              </a:defRPr>
            </a:pPr>
            <a:r>
              <a:t>Challenger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35640" y="363931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Static timing analysis. Gaining ground vs. Synopsys PrimeTime. Tighter Innovus integration. Foundries increasingly qualify both.</a:t>
            </a:r>
          </a:p>
        </p:txBody>
      </p:sp>
      <p:sp>
        <p:nvSpPr>
          <p:cNvPr id="64" name="Down Arrow 63"/>
          <p:cNvSpPr/>
          <p:nvPr/>
        </p:nvSpPr>
        <p:spPr>
          <a:xfrm>
            <a:off x="12124944" y="4233672"/>
            <a:ext cx="164592" cy="228600"/>
          </a:xfrm>
          <a:prstGeom prst="down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0698480" y="4471416"/>
            <a:ext cx="30175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F0A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808208" y="4581144"/>
            <a:ext cx="292608" cy="292608"/>
          </a:xfrm>
          <a:prstGeom prst="ellipse">
            <a:avLst/>
          </a:prstGeom>
          <a:solidFill>
            <a:srgbClr val="F0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55680" y="45445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Voltus Power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835640" y="4855464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IR drop, electromigration, dynamic power. Embedded in Innovus for in-design analysis. Standalone for signoff quality.</a:t>
            </a:r>
          </a:p>
        </p:txBody>
      </p:sp>
      <p:sp>
        <p:nvSpPr>
          <p:cNvPr id="69" name="Left Arrow 68"/>
          <p:cNvSpPr/>
          <p:nvPr/>
        </p:nvSpPr>
        <p:spPr>
          <a:xfrm>
            <a:off x="10497312" y="3653028"/>
            <a:ext cx="164592" cy="164592"/>
          </a:xfrm>
          <a:prstGeom prst="lef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ft Arrow 69"/>
          <p:cNvSpPr/>
          <p:nvPr/>
        </p:nvSpPr>
        <p:spPr>
          <a:xfrm>
            <a:off x="10497312" y="4869180"/>
            <a:ext cx="164592" cy="164592"/>
          </a:xfrm>
          <a:prstGeom prst="lef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Up Arrow 70"/>
          <p:cNvSpPr/>
          <p:nvPr/>
        </p:nvSpPr>
        <p:spPr>
          <a:xfrm>
            <a:off x="2624328" y="5175504"/>
            <a:ext cx="164592" cy="201168"/>
          </a:xfrm>
          <a:prstGeom prst="up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Up Arrow 71"/>
          <p:cNvSpPr/>
          <p:nvPr/>
        </p:nvSpPr>
        <p:spPr>
          <a:xfrm>
            <a:off x="7232904" y="5175504"/>
            <a:ext cx="164592" cy="201168"/>
          </a:xfrm>
          <a:prstGeom prst="up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Up Arrow 72"/>
          <p:cNvSpPr/>
          <p:nvPr/>
        </p:nvSpPr>
        <p:spPr>
          <a:xfrm>
            <a:off x="11841480" y="5175504"/>
            <a:ext cx="164592" cy="201168"/>
          </a:xfrm>
          <a:prstGeom prst="up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57200" y="5431536"/>
            <a:ext cx="13716000" cy="32004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94360" y="5468112"/>
            <a:ext cx="1344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PCB &amp; SYSTEM  —  Chip to Board  (Synopsys has NO equivalent)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1520" y="54681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A93A6"/>
                </a:solidFill>
                <a:latin typeface="Segoe UI"/>
              </a:defRPr>
            </a:pPr>
            <a:r>
              <a:t>Unique to Cadence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7200" y="5824728"/>
            <a:ext cx="4498848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D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66928" y="5934456"/>
            <a:ext cx="292608" cy="292608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4400" y="5897880"/>
            <a:ext cx="3950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Allegro PCB Designer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041648" y="5916168"/>
            <a:ext cx="777240" cy="201168"/>
          </a:xfrm>
          <a:prstGeom prst="roundRect">
            <a:avLst>
              <a:gd name="adj" fmla="val 5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C62828"/>
                </a:solidFill>
                <a:latin typeface="Segoe UI"/>
              </a:defRPr>
            </a:pPr>
            <a:r>
              <a:t>Dominant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4360" y="6208776"/>
            <a:ext cx="4224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High-end PCB layout. Dominates complex high-speed boards (networking, server, automotive). Deep constraint management. Library lock-in.</a:t>
            </a:r>
          </a:p>
        </p:txBody>
      </p:sp>
      <p:sp>
        <p:nvSpPr>
          <p:cNvPr id="82" name="Right Arrow 81"/>
          <p:cNvSpPr/>
          <p:nvPr/>
        </p:nvSpPr>
        <p:spPr>
          <a:xfrm>
            <a:off x="4956048" y="6268212"/>
            <a:ext cx="164592" cy="164592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5065776" y="5824728"/>
            <a:ext cx="4498848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F0A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175504" y="5934456"/>
            <a:ext cx="292608" cy="292608"/>
          </a:xfrm>
          <a:prstGeom prst="ellipse">
            <a:avLst/>
          </a:prstGeom>
          <a:solidFill>
            <a:srgbClr val="F0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22976" y="5897880"/>
            <a:ext cx="3950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Sigrity SI/PI Analysis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202936" y="6208776"/>
            <a:ext cx="4224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Signal integrity, power integrity for PCBs and packages. Closed-loop with Allegro. Pre- and post-layout analysis.</a:t>
            </a:r>
          </a:p>
        </p:txBody>
      </p:sp>
      <p:sp>
        <p:nvSpPr>
          <p:cNvPr id="87" name="Right Arrow 86"/>
          <p:cNvSpPr/>
          <p:nvPr/>
        </p:nvSpPr>
        <p:spPr>
          <a:xfrm>
            <a:off x="9564624" y="6268212"/>
            <a:ext cx="164592" cy="164592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9674352" y="5824728"/>
            <a:ext cx="4498848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B8C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784080" y="5934456"/>
            <a:ext cx="292608" cy="292608"/>
          </a:xfrm>
          <a:prstGeom prst="ellipse">
            <a:avLst/>
          </a:prstGeom>
          <a:solidFill>
            <a:srgbClr val="B8C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131552" y="5897880"/>
            <a:ext cx="3950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Celsius Thermal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811512" y="6208776"/>
            <a:ext cx="4224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Electro-thermal simulation across IC, package, board. Full system thermal analysis. Newer product expanding the platform.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57200" y="6967728"/>
            <a:ext cx="13716000" cy="475488"/>
          </a:xfrm>
          <a:prstGeom prst="roundRect">
            <a:avLst>
              <a:gd name="adj" fmla="val 12000"/>
            </a:avLst>
          </a:prstGeom>
          <a:solidFill>
            <a:srgbClr val="0D2B47"/>
          </a:solidFill>
          <a:ln w="25400">
            <a:solidFill>
              <a:srgbClr val="D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0080" y="700430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A8DA"/>
                </a:solidFill>
                <a:latin typeface="Segoe UI"/>
              </a:defRPr>
            </a:pPr>
            <a:r>
              <a:t>PALLADIUM EMULATION  +  PROTIUM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0080" y="7205472"/>
            <a:ext cx="1280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5CEE8"/>
                </a:solidFill>
                <a:latin typeface="Segoe UI"/>
              </a:defRPr>
            </a:pPr>
            <a:r>
              <a:t>Hardware emulation ($5-30M systems)  •  FPGA prototyping  •  Multi-year depreciation lock-in  •  Co-leader with Synopsys ZeBu  •  Verification IP (VIP)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57200" y="7498080"/>
            <a:ext cx="13716000" cy="475488"/>
          </a:xfrm>
          <a:prstGeom prst="roundRect">
            <a:avLst>
              <a:gd name="adj" fmla="val 12000"/>
            </a:avLst>
          </a:prstGeom>
          <a:solidFill>
            <a:srgbClr val="0D2B47"/>
          </a:solidFill>
          <a:ln w="25400">
            <a:solidFill>
              <a:srgbClr val="F0A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0080" y="753465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A8DA"/>
                </a:solidFill>
                <a:latin typeface="Segoe UI"/>
              </a:defRPr>
            </a:pPr>
            <a:r>
              <a:t>TENSILICA IP  +  DESIGN IP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0080" y="7735824"/>
            <a:ext cx="1280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5CEE8"/>
                </a:solidFill>
                <a:latin typeface="Segoe UI"/>
              </a:defRPr>
            </a:pPr>
            <a:r>
              <a:t>Tensilica DSP/AI processors  •  Interface PHYs (DDR, PCIe, USB)  •  Memory compilers  •  Smaller IP portfolio than Synopsys DesignWare  •  Quantus extraction  •  Pegasus DRC/LVS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