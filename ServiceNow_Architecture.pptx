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81B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243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B622"/>
                </a:solidFill>
                <a:latin typeface="Segoe UI"/>
              </a:defRPr>
            </a:pPr>
            <a:r>
              <a:t>SERVICENOW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2435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Platform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3A6"/>
                </a:solidFill>
                <a:latin typeface="Segoe UI"/>
              </a:defRPr>
            </a:pPr>
            <a:r>
              <a:t>End-to-End IT Service Management  |  12 Core Process Areas  |  Single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754880"/>
            <a:ext cx="2743200" cy="36576"/>
          </a:xfrm>
          <a:prstGeom prst="rect">
            <a:avLst/>
          </a:prstGeom>
          <a:solidFill>
            <a:srgbClr val="81B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6858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3A6"/>
                </a:solidFill>
                <a:latin typeface="Segoe UI"/>
              </a:defRPr>
            </a:pPr>
            <a:r>
              <a:t>Enterprise Architecture Overview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36576"/>
          </a:xfrm>
          <a:prstGeom prst="rect">
            <a:avLst/>
          </a:prstGeom>
          <a:solidFill>
            <a:srgbClr val="81B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B622"/>
                </a:solidFill>
                <a:latin typeface="Segoe UI"/>
              </a:defRPr>
            </a:pPr>
            <a:r>
              <a:t>SERVICENOW ITSM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Process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3A6"/>
                </a:solidFill>
                <a:latin typeface="Segoe UI"/>
              </a:defRPr>
            </a:pPr>
            <a:r>
              <a:t>12 core steps  |  Request to Resolve  |  vs. BMC Remedy / Jira Service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3716000" cy="32004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33856"/>
            <a:ext cx="1344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SERVICE REQUEST  —  Demand Intake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0" y="113385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93A6"/>
                </a:solidFill>
                <a:latin typeface="Segoe UI"/>
              </a:defRPr>
            </a:pPr>
            <a:r>
              <a:t>Steps 1–3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27048"/>
            <a:ext cx="4498848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6928" y="1636776"/>
            <a:ext cx="292608" cy="292608"/>
          </a:xfrm>
          <a:prstGeom prst="ellipse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600200"/>
            <a:ext cx="3950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Service Catalog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11096"/>
            <a:ext cx="42245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Self-service portal. Every request type, approval rule, and SLA defined here. Users browse and order like a storefront.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56048" y="2061972"/>
            <a:ext cx="164592" cy="164592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65776" y="1527048"/>
            <a:ext cx="4498848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75504" y="1636776"/>
            <a:ext cx="292608" cy="292608"/>
          </a:xfrm>
          <a:prstGeom prst="ellipse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76" y="1600200"/>
            <a:ext cx="3950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Request Fulfillment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6" y="1911096"/>
            <a:ext cx="42245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Full lifecycle: submission → approval → assignment → fulfillment. Automated routing via assignment rules. SLA tracking.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564624" y="2061972"/>
            <a:ext cx="164592" cy="164592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74352" y="1527048"/>
            <a:ext cx="4498848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007B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84080" y="1636776"/>
            <a:ext cx="292608" cy="292608"/>
          </a:xfrm>
          <a:prstGeom prst="ellipse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31552" y="1600200"/>
            <a:ext cx="3950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Knowledge Mgmt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1512" y="1911096"/>
            <a:ext cx="42245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Deflect tickets before they're created. AI-powered search. Article lifecycle: draft → review → publish → retire.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2624328" y="2788920"/>
            <a:ext cx="164592" cy="228600"/>
          </a:xfrm>
          <a:prstGeom prst="down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7232904" y="2788920"/>
            <a:ext cx="164592" cy="228600"/>
          </a:xfrm>
          <a:prstGeom prst="down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11841480" y="2788920"/>
            <a:ext cx="164592" cy="228600"/>
          </a:xfrm>
          <a:prstGeom prst="down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3063240"/>
            <a:ext cx="13716000" cy="32004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099816"/>
            <a:ext cx="1344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INCIDENT &amp; PROBLEM  —  The Core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0" y="309981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93A6"/>
                </a:solidFill>
                <a:latin typeface="Segoe UI"/>
              </a:defRPr>
            </a:pPr>
            <a:r>
              <a:t>Steps 4–8  |  Hardest to Replace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493008"/>
            <a:ext cx="2655417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66928" y="3602736"/>
            <a:ext cx="292608" cy="292608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566160"/>
            <a:ext cx="210677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Incident Mgmt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98217" y="3584448"/>
            <a:ext cx="777240" cy="201168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2E7D32"/>
                </a:solidFill>
                <a:latin typeface="Segoe UI"/>
              </a:defRPr>
            </a:pPr>
            <a:r>
              <a:t>CMDB-Linked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877056"/>
            <a:ext cx="238109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Restore service ASAP. Priority matrix (impact × urgency). Major incident workflow. Parent-child linking.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3112617" y="4027932"/>
            <a:ext cx="164592" cy="164592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222345" y="3493008"/>
            <a:ext cx="2655417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332073" y="3602736"/>
            <a:ext cx="292608" cy="292608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9545" y="3566160"/>
            <a:ext cx="210677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Problem Mgmt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59505" y="3877056"/>
            <a:ext cx="238109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Root cause analysis. Known errors database. Proactive problem identification. Feeds back to reduce incidents.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5877763" y="4027932"/>
            <a:ext cx="164592" cy="164592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987491" y="3493008"/>
            <a:ext cx="2655417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097219" y="3602736"/>
            <a:ext cx="292608" cy="292608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4691" y="3566160"/>
            <a:ext cx="210677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Change Mgmt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28508" y="3584448"/>
            <a:ext cx="777240" cy="201168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2E7D32"/>
                </a:solidFill>
                <a:latin typeface="Segoe UI"/>
              </a:defRPr>
            </a:pPr>
            <a:r>
              <a:t>Risk Engine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4651" y="3877056"/>
            <a:ext cx="238109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Standard / Normal / Emergency. CAB workflow. Risk assessment engine. Collision detection. Blackout windows.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8642908" y="4027932"/>
            <a:ext cx="164592" cy="164592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752636" y="3493008"/>
            <a:ext cx="2655417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62364" y="3602736"/>
            <a:ext cx="292608" cy="292608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09836" y="3566160"/>
            <a:ext cx="210677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Release Mgmt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89796" y="3877056"/>
            <a:ext cx="238109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Bundle changes into releases. Deployment pipelines. Rollback plans. Environment tracking.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408054" y="4027932"/>
            <a:ext cx="164592" cy="164592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517782" y="3493008"/>
            <a:ext cx="2655417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627510" y="3602736"/>
            <a:ext cx="292608" cy="292608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974982" y="3566160"/>
            <a:ext cx="210677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CMDB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258800" y="3584448"/>
            <a:ext cx="777240" cy="201168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2E7D32"/>
                </a:solidFill>
                <a:latin typeface="Segoe UI"/>
              </a:defRPr>
            </a:pPr>
            <a:r>
              <a:t>Foundation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654942" y="3877056"/>
            <a:ext cx="238109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Single source of truth. CI relationships &amp; dependencies. Discovery auto-populates. Impact analysis. 12-18 mo. to mature.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1702612" y="4754880"/>
            <a:ext cx="164592" cy="228600"/>
          </a:xfrm>
          <a:prstGeom prst="down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own Arrow 56"/>
          <p:cNvSpPr/>
          <p:nvPr/>
        </p:nvSpPr>
        <p:spPr>
          <a:xfrm>
            <a:off x="4467758" y="4754880"/>
            <a:ext cx="164592" cy="228600"/>
          </a:xfrm>
          <a:prstGeom prst="down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own Arrow 57"/>
          <p:cNvSpPr/>
          <p:nvPr/>
        </p:nvSpPr>
        <p:spPr>
          <a:xfrm>
            <a:off x="7232904" y="4754880"/>
            <a:ext cx="164592" cy="228600"/>
          </a:xfrm>
          <a:prstGeom prst="down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own Arrow 58"/>
          <p:cNvSpPr/>
          <p:nvPr/>
        </p:nvSpPr>
        <p:spPr>
          <a:xfrm>
            <a:off x="9998049" y="4754880"/>
            <a:ext cx="164592" cy="228600"/>
          </a:xfrm>
          <a:prstGeom prst="down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own Arrow 59"/>
          <p:cNvSpPr/>
          <p:nvPr/>
        </p:nvSpPr>
        <p:spPr>
          <a:xfrm>
            <a:off x="12763195" y="4754880"/>
            <a:ext cx="164592" cy="228600"/>
          </a:xfrm>
          <a:prstGeom prst="down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57200" y="5029200"/>
            <a:ext cx="13716000" cy="32004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5065776"/>
            <a:ext cx="1344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OPTIMIZE &amp; GOVERN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0" y="506577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93A6"/>
                </a:solidFill>
                <a:latin typeface="Segoe UI"/>
              </a:defRPr>
            </a:pPr>
            <a:r>
              <a:t>Steps 9–10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5458968"/>
            <a:ext cx="6803136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7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66928" y="5568696"/>
            <a:ext cx="292608" cy="292608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00" y="5532120"/>
            <a:ext cx="6254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SLA Management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" y="5843016"/>
            <a:ext cx="6528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Define, measure, report. Breach notifications &amp; escalations. OLA and underpinning contracts. Feeds executive dashboards.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7260336" y="5993892"/>
            <a:ext cx="164592" cy="164592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7370064" y="5458968"/>
            <a:ext cx="6803136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0">
            <a:solidFill>
              <a:srgbClr val="7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79792" y="5568696"/>
            <a:ext cx="292608" cy="292608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27264" y="5532120"/>
            <a:ext cx="6254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Continual Improvement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07224" y="5843016"/>
            <a:ext cx="65288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378"/>
                </a:solidFill>
                <a:latin typeface="Segoe UI"/>
              </a:defRPr>
            </a:pPr>
            <a:r>
              <a:t>CSI register. Improvement initiatives tied to process metrics. Benchmarking against ITIL maturity. Backlog prioritization.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" y="6830568"/>
            <a:ext cx="13716000" cy="594360"/>
          </a:xfrm>
          <a:prstGeom prst="roundRect">
            <a:avLst>
              <a:gd name="adj" fmla="val 12000"/>
            </a:avLst>
          </a:prstGeom>
          <a:solidFill>
            <a:srgbClr val="0D472B"/>
          </a:solidFill>
          <a:ln w="25400">
            <a:solidFill>
              <a:srgbClr val="81B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68854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B622"/>
                </a:solidFill>
                <a:latin typeface="Segoe UI"/>
              </a:defRPr>
            </a:pPr>
            <a:r>
              <a:t>NOW PLATFORM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7123176"/>
            <a:ext cx="1335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5D6A7"/>
                </a:solidFill>
                <a:latin typeface="Segoe UI"/>
              </a:defRPr>
            </a:pPr>
            <a:r>
              <a:t>Single data model  •  Workflow engine  •  AI/ML (Now Intelligence)  •  Integration Hub  •  App Engine  •  Security Operations  •  Performance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36576"/>
          </a:xfrm>
          <a:prstGeom prst="rect">
            <a:avLst/>
          </a:prstGeom>
          <a:solidFill>
            <a:srgbClr val="81B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B622"/>
                </a:solidFill>
                <a:latin typeface="Segoe UI"/>
              </a:defRPr>
            </a:pPr>
            <a:r>
              <a:t>SERVICENOW ITSM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Integration &amp; Data Flow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3A6"/>
                </a:solidFill>
                <a:latin typeface="Segoe UI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4297680" cy="347472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INBOUND CHANNELS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42976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8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2763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Self-Service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019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378"/>
                </a:solidFill>
                <a:latin typeface="Segoe UI"/>
              </a:defRPr>
            </a:pPr>
            <a:r>
              <a:t>Employee &amp; customer portal with virtual agent chatbot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14600"/>
            <a:ext cx="42976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8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58775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Email &amp; 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6207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378"/>
                </a:solidFill>
                <a:latin typeface="Segoe UI"/>
              </a:defRPr>
            </a:pPr>
            <a:r>
              <a:t>Inbound email parsing, Teams/Slack integration, walk-up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74720"/>
            <a:ext cx="42976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8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5478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API /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82219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378"/>
                </a:solidFill>
                <a:latin typeface="Segoe UI"/>
              </a:defRPr>
            </a:pPr>
            <a:r>
              <a:t>REST API, MID Server, Event Management, SCCM/Intune feeds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34840"/>
            <a:ext cx="42976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8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50799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78231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378"/>
                </a:solidFill>
                <a:latin typeface="Segoe UI"/>
              </a:defRPr>
            </a:pPr>
            <a:r>
              <a:t>Horizontal &amp; vertical probes, cloud discovery, service mapping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773168" y="3200400"/>
            <a:ext cx="146304" cy="18288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937760" y="1097280"/>
            <a:ext cx="4297680" cy="347472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1430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CORE PLATFORM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1554480"/>
            <a:ext cx="42976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162763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Flow Designer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19019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378"/>
                </a:solidFill>
                <a:latin typeface="Segoe UI"/>
              </a:defRPr>
            </a:pPr>
            <a:r>
              <a:t>Low-code workflow automation with reusable actions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2514600"/>
            <a:ext cx="42976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258775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Assignment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286207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378"/>
                </a:solidFill>
                <a:latin typeface="Segoe UI"/>
              </a:defRPr>
            </a:pPr>
            <a:r>
              <a:t>Round-robin, capacity-based, ML-powered routing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37760" y="3474720"/>
            <a:ext cx="42976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35478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SLA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382219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378"/>
                </a:solidFill>
                <a:latin typeface="Segoe UI"/>
              </a:defRPr>
            </a:pPr>
            <a:r>
              <a:t>Retroactive start, pause conditions, breach escalation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37760" y="4434840"/>
            <a:ext cx="42976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74920" y="450799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Predictive 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478231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378"/>
                </a:solidFill>
                <a:latin typeface="Segoe UI"/>
              </a:defRPr>
            </a:pPr>
            <a:r>
              <a:t>Classification, similarity, regression for auto-triage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253728" y="3200400"/>
            <a:ext cx="146304" cy="18288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18320" y="1097280"/>
            <a:ext cx="4297680" cy="347472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5480" y="11430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OUTBOUND &amp; REPORTING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18320" y="1554480"/>
            <a:ext cx="42976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7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55480" y="162763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Notifications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19019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378"/>
                </a:solidFill>
                <a:latin typeface="Segoe UI"/>
              </a:defRPr>
            </a:pPr>
            <a:r>
              <a:t>Multi-channel: email, SMS, push, Teams. Digest rules.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18320" y="2514600"/>
            <a:ext cx="42976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7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55480" y="258775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Integration Hub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286207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378"/>
                </a:solidFill>
                <a:latin typeface="Segoe UI"/>
              </a:defRPr>
            </a:pPr>
            <a:r>
              <a:t>500+ spokes. ServiceNow ↔ Jira, SAP, Workday, AWS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18320" y="3474720"/>
            <a:ext cx="42976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7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55480" y="35478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Performance Analytics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55480" y="382219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378"/>
                </a:solidFill>
                <a:latin typeface="Segoe UI"/>
              </a:defRPr>
            </a:pPr>
            <a:r>
              <a:t>Scorecards, breakdowns, time series. Executive dashboards.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18320" y="4434840"/>
            <a:ext cx="429768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7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55480" y="450799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Segoe UI"/>
              </a:defRPr>
            </a:pPr>
            <a:r>
              <a:t>CMDB Health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55480" y="478231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378"/>
                </a:solidFill>
                <a:latin typeface="Segoe UI"/>
              </a:defRPr>
            </a:pPr>
            <a:r>
              <a:t>Audit, orphan CI detection, staleness scoring, compliance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303520"/>
            <a:ext cx="13716000" cy="594360"/>
          </a:xfrm>
          <a:prstGeom prst="roundRect">
            <a:avLst>
              <a:gd name="adj" fmla="val 12000"/>
            </a:avLst>
          </a:prstGeom>
          <a:solidFill>
            <a:srgbClr val="0D472B"/>
          </a:solidFill>
          <a:ln w="25400">
            <a:solidFill>
              <a:srgbClr val="81B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53583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B622"/>
                </a:solidFill>
                <a:latin typeface="Segoe UI"/>
              </a:defRPr>
            </a:pPr>
            <a:r>
              <a:t>NOW PLATFORM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5596128"/>
            <a:ext cx="1335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5D6A7"/>
                </a:solidFill>
                <a:latin typeface="Segoe UI"/>
              </a:defRPr>
            </a:pPr>
            <a:r>
              <a:t>Single Table Architecture  •  Update Sets &amp; Scoped Apps  •  Instance Security  •  MID Server  •  Domain Separation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36576"/>
          </a:xfrm>
          <a:prstGeom prst="rect">
            <a:avLst/>
          </a:prstGeom>
          <a:solidFill>
            <a:srgbClr val="81B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1B622"/>
                </a:solidFill>
                <a:latin typeface="Segoe UI"/>
              </a:defRPr>
            </a:pPr>
            <a:r>
              <a:t>SERVICENOW ITSM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Implementation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3A6"/>
                </a:solidFill>
                <a:latin typeface="Segoe UI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9050">
            <a:solidFill>
              <a:srgbClr val="008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1B622"/>
                </a:solidFill>
                <a:latin typeface="Segoe UI"/>
              </a:defRPr>
            </a:pPr>
            <a:r>
              <a:t>12–18 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Typical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3A6"/>
                </a:solidFill>
                <a:latin typeface="Segoe UI"/>
              </a:defRPr>
            </a:pPr>
            <a:r>
              <a:t>Full ITSM suite deployment</a:t>
            </a:r>
            <a:br/>
            <a:r>
              <a:t>with CMDB maturity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18872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9050">
            <a:solidFill>
              <a:srgbClr val="008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1325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1B622"/>
                </a:solidFill>
                <a:latin typeface="Segoe UI"/>
              </a:defRPr>
            </a:pPr>
            <a:r>
              <a:t>40–60%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Ticket Deflection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3A6"/>
                </a:solidFill>
                <a:latin typeface="Segoe UI"/>
              </a:defRPr>
            </a:pPr>
            <a:r>
              <a:t>With Knowledge + Virtual Agent</a:t>
            </a:r>
            <a:br/>
            <a:r>
              <a:t>+ Service Catalog optimization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118872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9050">
            <a:solidFill>
              <a:srgbClr val="008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325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1B622"/>
                </a:solidFill>
                <a:latin typeface="Segoe UI"/>
              </a:defRPr>
            </a:pPr>
            <a:r>
              <a:t>500+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Integration Spokes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3A6"/>
                </a:solidFill>
                <a:latin typeface="Segoe UI"/>
              </a:defRPr>
            </a:pPr>
            <a:r>
              <a:t>Pre-built connectors via</a:t>
            </a:r>
            <a:br/>
            <a:r>
              <a:t>Integration Hub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118872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1A253C"/>
          </a:solidFill>
          <a:ln w="19050">
            <a:solidFill>
              <a:srgbClr val="008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5640" y="1325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1B622"/>
                </a:solidFill>
                <a:latin typeface="Segoe UI"/>
              </a:defRPr>
            </a:pPr>
            <a:r>
              <a:t>99.99%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3564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Platform Uptime SLA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3A6"/>
                </a:solidFill>
                <a:latin typeface="Segoe UI"/>
              </a:defRPr>
            </a:pPr>
            <a:r>
              <a:t>Enterprise instance with</a:t>
            </a:r>
            <a:br/>
            <a:r>
              <a:t>high availability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017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Platform Comparison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3474720"/>
          <a:ext cx="13716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474720"/>
                <a:gridCol w="3474720"/>
                <a:gridCol w="3566160"/>
              </a:tblGrid>
              <a:tr h="52251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ServiceNow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BMC Remedy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Jira Service Mgmt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CMDB / Asset DB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1B622"/>
                          </a:solidFill>
                          <a:latin typeface="Segoe UI"/>
                        </a:defRPr>
                      </a:pPr>
                      <a:r>
                        <a:t>Native CMDB with Discovery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Atrium CMDB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Assets (limited CMDB)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Workflow Engine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1B622"/>
                          </a:solidFill>
                          <a:latin typeface="Segoe UI"/>
                        </a:defRPr>
                      </a:pPr>
                      <a:r>
                        <a:t>Flow Designer (low-code)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Digital Workplace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Jira Automation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AI / ML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1B622"/>
                          </a:solidFill>
                          <a:latin typeface="Segoe UI"/>
                        </a:defRPr>
                      </a:pPr>
                      <a:r>
                        <a:t>Now Intelligence (built-in)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BMC Helix AI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Atlassian Intelligence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1B622"/>
                          </a:solidFill>
                          <a:latin typeface="Segoe UI"/>
                        </a:defRPr>
                      </a:pPr>
                      <a:r>
                        <a:t>Integration Hub (500+ spokes)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Integration Studio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Marketplace + REST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Scalability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1B622"/>
                          </a:solidFill>
                          <a:latin typeface="Segoe UI"/>
                        </a:defRPr>
                      </a:pPr>
                      <a:r>
                        <a:t>Enterprise (Fortune 500)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Enterprise (legacy heavy)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Mid-market / Dev teams</a:t>
                      </a:r>
                    </a:p>
                  </a:txBody>
                  <a:tcPr>
                    <a:solidFill>
                      <a:srgbClr val="141E33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Total Cost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1B622"/>
                          </a:solidFill>
                          <a:latin typeface="Segoe UI"/>
                        </a:defRPr>
                      </a:pPr>
                      <a:r>
                        <a:t>$$$ (premium)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$$$$ (legacy overhead)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CC"/>
                          </a:solidFill>
                          <a:latin typeface="Segoe UI"/>
                        </a:defRPr>
                      </a:pPr>
                      <a:r>
                        <a:t>$ – $$ (competitive)</a:t>
                      </a:r>
                    </a:p>
                  </a:txBody>
                  <a:tcPr>
                    <a:solidFill>
                      <a:srgbClr val="1A25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