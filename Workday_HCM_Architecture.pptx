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1828800"/>
            <a:ext cx="6400800" cy="6400800"/>
          </a:xfrm>
          <a:prstGeom prst="ellipse">
            <a:avLst/>
          </a:prstGeom>
          <a:solidFill>
            <a:srgbClr val="15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3657600"/>
            <a:ext cx="3657600" cy="3657600"/>
          </a:xfrm>
          <a:prstGeom prst="ellipse">
            <a:avLst/>
          </a:prstGeom>
          <a:solidFill>
            <a:srgbClr val="121B2B"/>
          </a:solidFill>
          <a:ln w="19050">
            <a:solidFill>
              <a:srgbClr val="F68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1097280" y="2011680"/>
            <a:ext cx="164592" cy="164592"/>
          </a:xfrm>
          <a:prstGeom prst="diamond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00" cy="36576"/>
          </a:xfrm>
          <a:prstGeom prst="rect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6576"/>
            <a:ext cx="14630400" cy="182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6821F"/>
                </a:solidFill>
                <a:latin typeface="Segoe UI"/>
              </a:defRPr>
            </a:pPr>
            <a:r>
              <a:t>WORKDAY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834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HCM Process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5A623"/>
                </a:solidFill>
                <a:latin typeface="Segoe UI"/>
              </a:defRPr>
            </a:pPr>
            <a:r>
              <a:t>HUMAN CAPITAL MANAGEMENT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572000"/>
            <a:ext cx="3657600" cy="36576"/>
          </a:xfrm>
          <a:prstGeom prst="rect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846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A93A6"/>
                </a:solidFill>
                <a:latin typeface="Segoe UI"/>
              </a:defRPr>
            </a:pPr>
            <a:r>
              <a:t>10 Core Steps  |  Hire to Retire  |  vs. Oracle Fusion Cloud HCM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5669280"/>
            <a:ext cx="91440" cy="91440"/>
          </a:xfrm>
          <a:prstGeom prst="ellipse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45920" y="5669280"/>
            <a:ext cx="91440" cy="91440"/>
          </a:xfrm>
          <a:prstGeom prst="ellipse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920240" y="5669280"/>
            <a:ext cx="91440" cy="91440"/>
          </a:xfrm>
          <a:prstGeom prst="ellipse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194560" y="5669280"/>
            <a:ext cx="91440" cy="91440"/>
          </a:xfrm>
          <a:prstGeom prst="ellipse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68880" y="5669280"/>
            <a:ext cx="91440" cy="91440"/>
          </a:xfrm>
          <a:prstGeom prst="ellipse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7132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8A93A6"/>
                </a:solidFill>
                <a:latin typeface="Segoe UI"/>
              </a:defRPr>
            </a:pPr>
            <a:r>
              <a:t>Enterprise Architecture Overview  •  Confidential  •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36576"/>
          </a:xfrm>
          <a:prstGeom prst="rect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6821F"/>
                </a:solidFill>
                <a:latin typeface="Segoe UI"/>
              </a:defRPr>
            </a:pPr>
            <a:r>
              <a:t>WORKDAY HCM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Segoe UI"/>
              </a:defRPr>
            </a:pPr>
            <a:r>
              <a:t>Process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8A93A6"/>
                </a:solidFill>
                <a:latin typeface="Segoe UI"/>
              </a:defRPr>
            </a:pPr>
            <a:r>
              <a:t>10 core steps  •  Hire to Retire  •  vs. Oracle Fusion Cloud HCM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13716000" cy="347472"/>
          </a:xfrm>
          <a:prstGeom prst="roundRect">
            <a:avLst>
              <a:gd name="adj" fmla="val 10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73152" cy="347472"/>
          </a:xfrm>
          <a:prstGeom prst="roundRect">
            <a:avLst>
              <a:gd name="adj" fmla="val 50000"/>
            </a:avLst>
          </a:prstGeom>
          <a:solidFill>
            <a:srgbClr val="005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88136"/>
            <a:ext cx="1325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Segoe UI"/>
              </a:defRPr>
            </a:pPr>
            <a:r>
              <a:t>PLAN TO HIRE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0" y="108813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8A93A6"/>
                </a:solidFill>
                <a:latin typeface="Segoe UI"/>
              </a:defRPr>
            </a:pPr>
            <a:r>
              <a:t>Steps 1–3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508760"/>
            <a:ext cx="4498848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5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" y="1508760"/>
            <a:ext cx="4352544" cy="45720"/>
          </a:xfrm>
          <a:prstGeom prst="rect">
            <a:avLst/>
          </a:prstGeom>
          <a:solidFill>
            <a:srgbClr val="005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6928" y="1636776"/>
            <a:ext cx="310896" cy="310896"/>
          </a:xfrm>
          <a:prstGeom prst="ellipse">
            <a:avLst/>
          </a:prstGeom>
          <a:solidFill>
            <a:srgbClr val="005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1600200"/>
            <a:ext cx="3904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Segoe UI"/>
              </a:defRPr>
            </a:pPr>
            <a:r>
              <a:t>Org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947672"/>
            <a:ext cx="42245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A6378"/>
                </a:solidFill>
                <a:latin typeface="Segoe UI"/>
              </a:defRPr>
            </a:pPr>
            <a:r>
              <a:t>Company org chart. Every dept, job title, reporting line. You can't hire without a position here first. Supervisory &amp; matrix orgs.</a:t>
            </a:r>
          </a:p>
        </p:txBody>
      </p:sp>
      <p:sp>
        <p:nvSpPr>
          <p:cNvPr id="15" name="Chevron 14"/>
          <p:cNvSpPr/>
          <p:nvPr/>
        </p:nvSpPr>
        <p:spPr>
          <a:xfrm>
            <a:off x="4937760" y="2071116"/>
            <a:ext cx="228600" cy="201168"/>
          </a:xfrm>
          <a:prstGeom prst="chevron">
            <a:avLst/>
          </a:prstGeom>
          <a:solidFill>
            <a:srgbClr val="4DA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5776" y="1508760"/>
            <a:ext cx="4498848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5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38928" y="1508760"/>
            <a:ext cx="4352544" cy="45720"/>
          </a:xfrm>
          <a:prstGeom prst="rect">
            <a:avLst/>
          </a:prstGeom>
          <a:solidFill>
            <a:srgbClr val="005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175504" y="1636776"/>
            <a:ext cx="310896" cy="310896"/>
          </a:xfrm>
          <a:prstGeom prst="ellipse">
            <a:avLst/>
          </a:prstGeom>
          <a:solidFill>
            <a:srgbClr val="005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41264" y="1600200"/>
            <a:ext cx="3904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Segoe UI"/>
              </a:defRPr>
            </a:pPr>
            <a:r>
              <a:t>Recruit &amp; Hire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2936" y="1947672"/>
            <a:ext cx="42245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A6378"/>
                </a:solidFill>
                <a:latin typeface="Segoe UI"/>
              </a:defRPr>
            </a:pPr>
            <a:r>
              <a:t>Full pipeline: req to offer. AI matches candidates to roles by skills, not keywords. Evergreen reqs. Offer letter generation.</a:t>
            </a:r>
          </a:p>
        </p:txBody>
      </p:sp>
      <p:sp>
        <p:nvSpPr>
          <p:cNvPr id="21" name="Chevron 20"/>
          <p:cNvSpPr/>
          <p:nvPr/>
        </p:nvSpPr>
        <p:spPr>
          <a:xfrm>
            <a:off x="9546336" y="2071116"/>
            <a:ext cx="228600" cy="201168"/>
          </a:xfrm>
          <a:prstGeom prst="chevron">
            <a:avLst/>
          </a:prstGeom>
          <a:solidFill>
            <a:srgbClr val="4DA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74352" y="1508760"/>
            <a:ext cx="4498848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5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47504" y="1508760"/>
            <a:ext cx="4352544" cy="45720"/>
          </a:xfrm>
          <a:prstGeom prst="rect">
            <a:avLst/>
          </a:prstGeom>
          <a:solidFill>
            <a:srgbClr val="005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84080" y="1636776"/>
            <a:ext cx="310896" cy="310896"/>
          </a:xfrm>
          <a:prstGeom prst="ellipse">
            <a:avLst/>
          </a:prstGeom>
          <a:solidFill>
            <a:srgbClr val="005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1600200"/>
            <a:ext cx="3904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Segoe UI"/>
              </a:defRPr>
            </a:pPr>
            <a:r>
              <a:t>Onboard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1512" y="1947672"/>
            <a:ext cx="42245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A6378"/>
                </a:solidFill>
                <a:latin typeface="Segoe UI"/>
              </a:defRPr>
            </a:pPr>
            <a:r>
              <a:t>Day zero: laptop, badge, tax forms, compliance training, benefits deadlines. 54 activities. Preboarding portal for new hires.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2615184" y="2907792"/>
            <a:ext cx="182880" cy="256032"/>
          </a:xfrm>
          <a:prstGeom prst="downArrow">
            <a:avLst/>
          </a:prstGeom>
          <a:solidFill>
            <a:srgbClr val="4DA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wn Arrow 27"/>
          <p:cNvSpPr/>
          <p:nvPr/>
        </p:nvSpPr>
        <p:spPr>
          <a:xfrm>
            <a:off x="7223760" y="2907792"/>
            <a:ext cx="182880" cy="256032"/>
          </a:xfrm>
          <a:prstGeom prst="downArrow">
            <a:avLst/>
          </a:prstGeom>
          <a:solidFill>
            <a:srgbClr val="4DA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own Arrow 28"/>
          <p:cNvSpPr/>
          <p:nvPr/>
        </p:nvSpPr>
        <p:spPr>
          <a:xfrm>
            <a:off x="11832336" y="2907792"/>
            <a:ext cx="182880" cy="256032"/>
          </a:xfrm>
          <a:prstGeom prst="downArrow">
            <a:avLst/>
          </a:prstGeom>
          <a:solidFill>
            <a:srgbClr val="4DA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" y="3200400"/>
            <a:ext cx="13716000" cy="347472"/>
          </a:xfrm>
          <a:prstGeom prst="roundRect">
            <a:avLst>
              <a:gd name="adj" fmla="val 10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7200" y="3200400"/>
            <a:ext cx="73152" cy="347472"/>
          </a:xfrm>
          <a:prstGeom prst="roundRect">
            <a:avLst>
              <a:gd name="adj" fmla="val 50000"/>
            </a:avLst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236976"/>
            <a:ext cx="1325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Segoe UI"/>
              </a:defRPr>
            </a:pPr>
            <a:r>
              <a:t>HIRE TO PAY  —  The Core Loop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0" y="323697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8A93A6"/>
                </a:solidFill>
                <a:latin typeface="Segoe UI"/>
              </a:defRPr>
            </a:pPr>
            <a:r>
              <a:t>Steps 4–8  |  Hardest to Replace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657600"/>
            <a:ext cx="2655417" cy="1325880"/>
          </a:xfrm>
          <a:prstGeom prst="roundRect">
            <a:avLst>
              <a:gd name="adj" fmla="val 4000"/>
            </a:avLst>
          </a:prstGeom>
          <a:solidFill>
            <a:srgbClr val="FFFBF0"/>
          </a:solidFill>
          <a:ln w="25400">
            <a:solidFill>
              <a:srgbClr val="F68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0352" y="3657600"/>
            <a:ext cx="2509113" cy="45720"/>
          </a:xfrm>
          <a:prstGeom prst="rect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6928" y="3785616"/>
            <a:ext cx="310896" cy="310896"/>
          </a:xfrm>
          <a:prstGeom prst="ellipse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3749040"/>
            <a:ext cx="20610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Segoe UI"/>
              </a:defRPr>
            </a:pPr>
            <a:r>
              <a:t>Core HR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106777" y="3767328"/>
            <a:ext cx="868680" cy="219456"/>
          </a:xfrm>
          <a:prstGeom prst="roundRect">
            <a:avLst>
              <a:gd name="adj" fmla="val 30000"/>
            </a:avLst>
          </a:prstGeom>
          <a:solidFill>
            <a:srgbClr val="FFF0DE"/>
          </a:solidFill>
          <a:ln w="12700">
            <a:solidFill>
              <a:srgbClr val="BF5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BF5B00"/>
                </a:solidFill>
                <a:latin typeface="Segoe UI"/>
              </a:defRPr>
            </a:pPr>
            <a:r>
              <a:t>Illuminate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4096512"/>
            <a:ext cx="2381097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A6378"/>
                </a:solidFill>
                <a:latin typeface="Segoe UI"/>
              </a:defRPr>
            </a:pPr>
            <a:r>
              <a:t>Single source of truth. Name, job, comp history, tax, visa. The CMDB equivalent. 12-18 mo. to migrate.</a:t>
            </a:r>
          </a:p>
        </p:txBody>
      </p:sp>
      <p:sp>
        <p:nvSpPr>
          <p:cNvPr id="40" name="Chevron 39"/>
          <p:cNvSpPr/>
          <p:nvPr/>
        </p:nvSpPr>
        <p:spPr>
          <a:xfrm>
            <a:off x="3094329" y="4219956"/>
            <a:ext cx="228600" cy="201168"/>
          </a:xfrm>
          <a:prstGeom prst="chevron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222345" y="3657600"/>
            <a:ext cx="2655417" cy="1325880"/>
          </a:xfrm>
          <a:prstGeom prst="roundRect">
            <a:avLst>
              <a:gd name="adj" fmla="val 4000"/>
            </a:avLst>
          </a:prstGeom>
          <a:solidFill>
            <a:srgbClr val="FFFBF0"/>
          </a:solidFill>
          <a:ln w="25400">
            <a:solidFill>
              <a:srgbClr val="F68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95497" y="3657600"/>
            <a:ext cx="2509113" cy="45720"/>
          </a:xfrm>
          <a:prstGeom prst="rect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332073" y="3785616"/>
            <a:ext cx="310896" cy="310896"/>
          </a:xfrm>
          <a:prstGeom prst="ellipse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97833" y="3749040"/>
            <a:ext cx="20610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Segoe UI"/>
              </a:defRPr>
            </a:pPr>
            <a:r>
              <a:t>Compensation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59505" y="4096512"/>
            <a:ext cx="2381097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A6378"/>
                </a:solidFill>
                <a:latin typeface="Segoe UI"/>
              </a:defRPr>
            </a:pPr>
            <a:r>
              <a:t>Base, bonus, stock, merit. Real-time budget visibility. Market benchmarking. Total rewards statements.</a:t>
            </a:r>
          </a:p>
        </p:txBody>
      </p:sp>
      <p:sp>
        <p:nvSpPr>
          <p:cNvPr id="46" name="Chevron 45"/>
          <p:cNvSpPr/>
          <p:nvPr/>
        </p:nvSpPr>
        <p:spPr>
          <a:xfrm>
            <a:off x="5859475" y="4219956"/>
            <a:ext cx="228600" cy="201168"/>
          </a:xfrm>
          <a:prstGeom prst="chevron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987491" y="3657600"/>
            <a:ext cx="2655417" cy="1325880"/>
          </a:xfrm>
          <a:prstGeom prst="roundRect">
            <a:avLst>
              <a:gd name="adj" fmla="val 4000"/>
            </a:avLst>
          </a:prstGeom>
          <a:solidFill>
            <a:srgbClr val="FFFBF0"/>
          </a:solidFill>
          <a:ln w="25400">
            <a:solidFill>
              <a:srgbClr val="F68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060643" y="3657600"/>
            <a:ext cx="2509113" cy="45720"/>
          </a:xfrm>
          <a:prstGeom prst="rect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097219" y="3785616"/>
            <a:ext cx="310896" cy="310896"/>
          </a:xfrm>
          <a:prstGeom prst="ellipse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62979" y="3749040"/>
            <a:ext cx="20610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Segoe UI"/>
              </a:defRPr>
            </a:pPr>
            <a:r>
              <a:t>Benefits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4651" y="4096512"/>
            <a:ext cx="2381097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A6378"/>
                </a:solidFill>
                <a:latin typeface="Segoe UI"/>
              </a:defRPr>
            </a:pPr>
            <a:r>
              <a:t>Medical, dental, 401(k), HSA. Open enrollment. One bad config = thousands on wrong plan. Life events engine.</a:t>
            </a:r>
          </a:p>
        </p:txBody>
      </p:sp>
      <p:sp>
        <p:nvSpPr>
          <p:cNvPr id="52" name="Chevron 51"/>
          <p:cNvSpPr/>
          <p:nvPr/>
        </p:nvSpPr>
        <p:spPr>
          <a:xfrm>
            <a:off x="8624620" y="4219956"/>
            <a:ext cx="228600" cy="201168"/>
          </a:xfrm>
          <a:prstGeom prst="chevron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752636" y="3657600"/>
            <a:ext cx="2655417" cy="1325880"/>
          </a:xfrm>
          <a:prstGeom prst="roundRect">
            <a:avLst>
              <a:gd name="adj" fmla="val 4000"/>
            </a:avLst>
          </a:prstGeom>
          <a:solidFill>
            <a:srgbClr val="FFFBF0"/>
          </a:solidFill>
          <a:ln w="25400">
            <a:solidFill>
              <a:srgbClr val="F68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825788" y="3657600"/>
            <a:ext cx="2509113" cy="45720"/>
          </a:xfrm>
          <a:prstGeom prst="rect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862364" y="3785616"/>
            <a:ext cx="310896" cy="310896"/>
          </a:xfrm>
          <a:prstGeom prst="ellipse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28124" y="3749040"/>
            <a:ext cx="20610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Segoe UI"/>
              </a:defRPr>
            </a:pPr>
            <a:r>
              <a:t>Payroll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402214" y="3767328"/>
            <a:ext cx="868680" cy="219456"/>
          </a:xfrm>
          <a:prstGeom prst="roundRect">
            <a:avLst>
              <a:gd name="adj" fmla="val 30000"/>
            </a:avLst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C62828"/>
                </a:solidFill>
                <a:latin typeface="Segoe UI"/>
              </a:defRPr>
            </a:pPr>
            <a:r>
              <a:t>Tax Engine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89796" y="4096512"/>
            <a:ext cx="2381097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A6378"/>
                </a:solidFill>
                <a:latin typeface="Segoe UI"/>
              </a:defRPr>
            </a:pPr>
            <a:r>
              <a:t>Gross-to-net every period. Taxes, deductions, garnishments. One error = thousands of corrections. Multi-country.</a:t>
            </a:r>
          </a:p>
        </p:txBody>
      </p:sp>
      <p:sp>
        <p:nvSpPr>
          <p:cNvPr id="59" name="Chevron 58"/>
          <p:cNvSpPr/>
          <p:nvPr/>
        </p:nvSpPr>
        <p:spPr>
          <a:xfrm>
            <a:off x="11389766" y="4219956"/>
            <a:ext cx="228600" cy="201168"/>
          </a:xfrm>
          <a:prstGeom prst="chevron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1517782" y="3657600"/>
            <a:ext cx="2655417" cy="1325880"/>
          </a:xfrm>
          <a:prstGeom prst="roundRect">
            <a:avLst>
              <a:gd name="adj" fmla="val 4000"/>
            </a:avLst>
          </a:prstGeom>
          <a:solidFill>
            <a:srgbClr val="FFFBF0"/>
          </a:solidFill>
          <a:ln w="25400">
            <a:solidFill>
              <a:srgbClr val="F68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590934" y="3657600"/>
            <a:ext cx="2509113" cy="45720"/>
          </a:xfrm>
          <a:prstGeom prst="rect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627510" y="3785616"/>
            <a:ext cx="310896" cy="310896"/>
          </a:xfrm>
          <a:prstGeom prst="ellipse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993270" y="3749040"/>
            <a:ext cx="20610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Segoe UI"/>
              </a:defRPr>
            </a:pPr>
            <a:r>
              <a:t>Time &amp; Absence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654942" y="4096512"/>
            <a:ext cx="2381097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A6378"/>
                </a:solidFill>
                <a:latin typeface="Segoe UI"/>
              </a:defRPr>
            </a:pPr>
            <a:r>
              <a:t>Clock in/out, PTO, FMLA, overtime. Feeds payroll. Labor law compliance automatic. Scheduling engine.</a:t>
            </a:r>
          </a:p>
        </p:txBody>
      </p:sp>
      <p:sp>
        <p:nvSpPr>
          <p:cNvPr id="65" name="Down Arrow 64"/>
          <p:cNvSpPr/>
          <p:nvPr/>
        </p:nvSpPr>
        <p:spPr>
          <a:xfrm>
            <a:off x="1693468" y="5056632"/>
            <a:ext cx="182880" cy="256032"/>
          </a:xfrm>
          <a:prstGeom prst="downArrow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Down Arrow 65"/>
          <p:cNvSpPr/>
          <p:nvPr/>
        </p:nvSpPr>
        <p:spPr>
          <a:xfrm>
            <a:off x="4458614" y="5056632"/>
            <a:ext cx="182880" cy="256032"/>
          </a:xfrm>
          <a:prstGeom prst="downArrow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Down Arrow 66"/>
          <p:cNvSpPr/>
          <p:nvPr/>
        </p:nvSpPr>
        <p:spPr>
          <a:xfrm>
            <a:off x="7223760" y="5056632"/>
            <a:ext cx="182880" cy="256032"/>
          </a:xfrm>
          <a:prstGeom prst="downArrow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own Arrow 67"/>
          <p:cNvSpPr/>
          <p:nvPr/>
        </p:nvSpPr>
        <p:spPr>
          <a:xfrm>
            <a:off x="9988905" y="5056632"/>
            <a:ext cx="182880" cy="256032"/>
          </a:xfrm>
          <a:prstGeom prst="downArrow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Down Arrow 68"/>
          <p:cNvSpPr/>
          <p:nvPr/>
        </p:nvSpPr>
        <p:spPr>
          <a:xfrm>
            <a:off x="12754051" y="5056632"/>
            <a:ext cx="182880" cy="256032"/>
          </a:xfrm>
          <a:prstGeom prst="downArrow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457200" y="5349240"/>
            <a:ext cx="13716000" cy="347472"/>
          </a:xfrm>
          <a:prstGeom prst="roundRect">
            <a:avLst>
              <a:gd name="adj" fmla="val 10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457200" y="5349240"/>
            <a:ext cx="73152" cy="347472"/>
          </a:xfrm>
          <a:prstGeom prst="roundRect">
            <a:avLst>
              <a:gd name="adj" fmla="val 50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5800" y="5385816"/>
            <a:ext cx="1325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Segoe UI"/>
              </a:defRPr>
            </a:pPr>
            <a:r>
              <a:t>DEVELOP &amp; SEPARATE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887200" y="538581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8A93A6"/>
                </a:solidFill>
                <a:latin typeface="Segoe UI"/>
              </a:defRPr>
            </a:pPr>
            <a:r>
              <a:t>Steps 9–10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57200" y="5806440"/>
            <a:ext cx="6803136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30352" y="5806440"/>
            <a:ext cx="6656832" cy="4572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66928" y="5934456"/>
            <a:ext cx="310896" cy="310896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32688" y="5897880"/>
            <a:ext cx="62087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Segoe UI"/>
              </a:defRPr>
            </a:pPr>
            <a:r>
              <a:t>Performance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4360" y="6245352"/>
            <a:ext cx="65288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A6378"/>
                </a:solidFill>
                <a:latin typeface="Segoe UI"/>
              </a:defRPr>
            </a:pPr>
            <a:r>
              <a:t>Goals, reviews, 360 feedback, calibration. Feeds comp and promotion decisions. Succession planning. Talent marketplace.</a:t>
            </a:r>
          </a:p>
        </p:txBody>
      </p:sp>
      <p:sp>
        <p:nvSpPr>
          <p:cNvPr id="79" name="Chevron 78"/>
          <p:cNvSpPr/>
          <p:nvPr/>
        </p:nvSpPr>
        <p:spPr>
          <a:xfrm>
            <a:off x="7242048" y="6368796"/>
            <a:ext cx="228600" cy="201168"/>
          </a:xfrm>
          <a:prstGeom prst="chevron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7370064" y="5806440"/>
            <a:ext cx="6803136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43216" y="5806440"/>
            <a:ext cx="6656832" cy="4572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7479792" y="5934456"/>
            <a:ext cx="310896" cy="310896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45552" y="5897880"/>
            <a:ext cx="62087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Segoe UI"/>
              </a:defRPr>
            </a:pPr>
            <a:r>
              <a:t>Offboard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507224" y="6245352"/>
            <a:ext cx="65288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A6378"/>
                </a:solidFill>
                <a:latin typeface="Segoe UI"/>
              </a:defRPr>
            </a:pPr>
            <a:r>
              <a:t>Final pay, COBRA, access revoked, exit interview, org chart update. Legal hold for involuntary terms. Alumni network.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57200" y="7269480"/>
            <a:ext cx="13716000" cy="640080"/>
          </a:xfrm>
          <a:prstGeom prst="roundRect">
            <a:avLst>
              <a:gd name="adj" fmla="val 10000"/>
            </a:avLst>
          </a:prstGeom>
          <a:solidFill>
            <a:srgbClr val="3E2100"/>
          </a:solidFill>
          <a:ln w="31750">
            <a:solidFill>
              <a:srgbClr val="F68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85800" y="73243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6821F"/>
                </a:solidFill>
                <a:latin typeface="Segoe UI"/>
              </a:defRPr>
            </a:pPr>
            <a:r>
              <a:t>WORKER RECORD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85800" y="7589520"/>
            <a:ext cx="1325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F5CB8A"/>
                </a:solidFill>
                <a:latin typeface="Segoe UI"/>
              </a:defRPr>
            </a:pPr>
            <a:r>
              <a:t>Every employee's full lifecycle accumulates here  •  Personal data, job history, comp, tax, benefits  •  Migration: 12 to 18 months  •  Single object model  •  Tenant-based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36576"/>
          </a:xfrm>
          <a:prstGeom prst="rect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6821F"/>
                </a:solidFill>
                <a:latin typeface="Segoe UI"/>
              </a:defRPr>
            </a:pPr>
            <a:r>
              <a:t>WORKDAY HCM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Segoe UI"/>
              </a:defRPr>
            </a:pPr>
            <a:r>
              <a:t>Integration &amp; Data Flow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4297680" cy="347472"/>
          </a:xfrm>
          <a:prstGeom prst="roundRect">
            <a:avLst>
              <a:gd name="adj" fmla="val 10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73152" cy="347472"/>
          </a:xfrm>
          <a:prstGeom prst="roundRect">
            <a:avLst>
              <a:gd name="adj" fmla="val 50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8813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Segoe UI"/>
              </a:defRPr>
            </a:pPr>
            <a:r>
              <a:t>INBOUND  •  People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08760"/>
            <a:ext cx="42976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" y="1508760"/>
            <a:ext cx="4187952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Segoe UI"/>
              </a:defRPr>
            </a:pPr>
            <a:r>
              <a:t>Recruiting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92808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5A6378"/>
                </a:solidFill>
                <a:latin typeface="Segoe UI"/>
              </a:defRPr>
            </a:pPr>
            <a:r>
              <a:t>Greenhouse, Lever, LinkedIn ATS feeds. Candidate profile sync. Interview scheduling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42032"/>
            <a:ext cx="42976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" y="2542032"/>
            <a:ext cx="4187952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63347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Segoe UI"/>
              </a:defRPr>
            </a:pPr>
            <a:r>
              <a:t>HRIS Feeds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92608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5A6378"/>
                </a:solidFill>
                <a:latin typeface="Segoe UI"/>
              </a:defRPr>
            </a:pPr>
            <a:r>
              <a:t>Legacy PeopleSoft / SAP SuccessFactors migration. Bulk data loads via EIB. Worker data validation.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575304"/>
            <a:ext cx="42976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" y="3575304"/>
            <a:ext cx="4187952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666744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Segoe UI"/>
              </a:defRPr>
            </a:pPr>
            <a:r>
              <a:t>Employee Self-Service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959352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5A6378"/>
                </a:solidFill>
                <a:latin typeface="Segoe UI"/>
              </a:defRPr>
            </a:pPr>
            <a:r>
              <a:t>Personal info changes, address updates, direct deposit. Mobile-first. Manager self-service approvals.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608576"/>
            <a:ext cx="42976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2064" y="4608576"/>
            <a:ext cx="4187952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700016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Segoe UI"/>
              </a:defRPr>
            </a:pPr>
            <a:r>
              <a:t>Third-Party Benefits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992624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5A6378"/>
                </a:solidFill>
                <a:latin typeface="Segoe UI"/>
              </a:defRPr>
            </a:pPr>
            <a:r>
              <a:t>Carrier connections: Aetna, BCBS, Kaiser. EDI 834 feeds. Evidence of insurability tracking.</a:t>
            </a:r>
          </a:p>
        </p:txBody>
      </p:sp>
      <p:sp>
        <p:nvSpPr>
          <p:cNvPr id="24" name="Chevron 23"/>
          <p:cNvSpPr/>
          <p:nvPr/>
        </p:nvSpPr>
        <p:spPr>
          <a:xfrm>
            <a:off x="4764024" y="3337560"/>
            <a:ext cx="164592" cy="228600"/>
          </a:xfrm>
          <a:prstGeom prst="chevron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937760" y="1051560"/>
            <a:ext cx="4297680" cy="347472"/>
          </a:xfrm>
          <a:prstGeom prst="roundRect">
            <a:avLst>
              <a:gd name="adj" fmla="val 10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937760" y="1051560"/>
            <a:ext cx="73152" cy="347472"/>
          </a:xfrm>
          <a:prstGeom prst="roundRect">
            <a:avLst>
              <a:gd name="adj" fmla="val 50000"/>
            </a:avLst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66360" y="108813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Segoe UI"/>
              </a:defRPr>
            </a:pPr>
            <a:r>
              <a:t>CORE ENGINE  •  Workday Tenant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37760" y="1508760"/>
            <a:ext cx="42976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68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92624" y="1508760"/>
            <a:ext cx="4187952" cy="36576"/>
          </a:xfrm>
          <a:prstGeom prst="rect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74920" y="160020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Segoe UI"/>
              </a:defRPr>
            </a:pPr>
            <a:r>
              <a:t>Business Process Framework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1892808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5A6378"/>
                </a:solidFill>
                <a:latin typeface="Segoe UI"/>
              </a:defRPr>
            </a:pPr>
            <a:r>
              <a:t>Configurable approval chains. Parallel &amp; sequential steps. Condition rules. Auto-complete logic.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37760" y="2542032"/>
            <a:ext cx="42976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68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992624" y="2542032"/>
            <a:ext cx="4187952" cy="36576"/>
          </a:xfrm>
          <a:prstGeom prst="rect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263347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Segoe UI"/>
              </a:defRPr>
            </a:pPr>
            <a:r>
              <a:t>Calculated Fields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74920" y="292608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5A6378"/>
                </a:solidFill>
                <a:latin typeface="Segoe UI"/>
              </a:defRPr>
            </a:pPr>
            <a:r>
              <a:t>Real-time computed values. Eligibility rules, proration, rollups. No SQL — declarative logic.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37760" y="3575304"/>
            <a:ext cx="42976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68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92624" y="3575304"/>
            <a:ext cx="4187952" cy="36576"/>
          </a:xfrm>
          <a:prstGeom prst="rect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3666744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Segoe UI"/>
              </a:defRPr>
            </a:pPr>
            <a:r>
              <a:t>Security 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74920" y="3959352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5A6378"/>
                </a:solidFill>
                <a:latin typeface="Segoe UI"/>
              </a:defRPr>
            </a:pPr>
            <a:r>
              <a:t>Role-based + domain-based. Intersection security groups. Row-level data access. SOX compliance.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37760" y="4608576"/>
            <a:ext cx="42976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68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992624" y="4608576"/>
            <a:ext cx="4187952" cy="36576"/>
          </a:xfrm>
          <a:prstGeom prst="rect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74920" y="4700016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Segoe UI"/>
              </a:defRPr>
            </a:pPr>
            <a:r>
              <a:t>Reporting &amp; Analytics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74920" y="4992624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5A6378"/>
                </a:solidFill>
                <a:latin typeface="Segoe UI"/>
              </a:defRPr>
            </a:pPr>
            <a:r>
              <a:t>Matrix reports, composite reports, dashboards. Discovery boards. Prism Analytics for big data.</a:t>
            </a:r>
          </a:p>
        </p:txBody>
      </p:sp>
      <p:sp>
        <p:nvSpPr>
          <p:cNvPr id="44" name="Chevron 43"/>
          <p:cNvSpPr/>
          <p:nvPr/>
        </p:nvSpPr>
        <p:spPr>
          <a:xfrm>
            <a:off x="9244584" y="3337560"/>
            <a:ext cx="164592" cy="228600"/>
          </a:xfrm>
          <a:prstGeom prst="chevron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418320" y="1051560"/>
            <a:ext cx="4297680" cy="347472"/>
          </a:xfrm>
          <a:prstGeom prst="roundRect">
            <a:avLst>
              <a:gd name="adj" fmla="val 10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418320" y="1051560"/>
            <a:ext cx="73152" cy="347472"/>
          </a:xfrm>
          <a:prstGeom prst="roundRect">
            <a:avLst>
              <a:gd name="adj" fmla="val 50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46920" y="108813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Segoe UI"/>
              </a:defRPr>
            </a:pPr>
            <a:r>
              <a:t>OUTBOUND  •  Downstream Systems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18320" y="1508760"/>
            <a:ext cx="42976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473184" y="1508760"/>
            <a:ext cx="4187952" cy="36576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55480" y="160020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Segoe UI"/>
              </a:defRPr>
            </a:pPr>
            <a:r>
              <a:t>Payroll Providers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55480" y="1892808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5A6378"/>
                </a:solidFill>
                <a:latin typeface="Segoe UI"/>
              </a:defRPr>
            </a:pPr>
            <a:r>
              <a:t>ADP, Ceridian, native Workday Payroll. Pay calc → GL journal entries. Tax filing integration.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418320" y="2542032"/>
            <a:ext cx="42976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473184" y="2542032"/>
            <a:ext cx="4187952" cy="36576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55480" y="263347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Segoe UI"/>
              </a:defRPr>
            </a:pPr>
            <a:r>
              <a:t>Finance &amp; ERP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55480" y="292608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5A6378"/>
                </a:solidFill>
                <a:latin typeface="Segoe UI"/>
              </a:defRPr>
            </a:pPr>
            <a:r>
              <a:t>Workday Financials, SAP, Oracle GL. Cost center mapping. Headcount-to-budget reconciliation.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418320" y="3575304"/>
            <a:ext cx="42976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73184" y="3575304"/>
            <a:ext cx="4187952" cy="36576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55480" y="3666744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Segoe UI"/>
              </a:defRPr>
            </a:pPr>
            <a:r>
              <a:t>Identity &amp; Access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55480" y="3959352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5A6378"/>
                </a:solidFill>
                <a:latin typeface="Segoe UI"/>
              </a:defRPr>
            </a:pPr>
            <a:r>
              <a:t>Okta, Azure AD provisioning. Birthright access. Joiner-mover-leaver automation.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418320" y="4608576"/>
            <a:ext cx="42976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473184" y="4608576"/>
            <a:ext cx="4187952" cy="36576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555480" y="4700016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Segoe UI"/>
              </a:defRPr>
            </a:pPr>
            <a:r>
              <a:t>Compliance &amp; Gov't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55480" y="4992624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5A6378"/>
                </a:solidFill>
                <a:latin typeface="Segoe UI"/>
              </a:defRPr>
            </a:pPr>
            <a:r>
              <a:t>ACA, EEO-1, VETS-4212, OSHA. Country-specific statutory reports. GDPR data subject requests.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7200" y="5486400"/>
            <a:ext cx="13716000" cy="548640"/>
          </a:xfrm>
          <a:prstGeom prst="roundRect">
            <a:avLst>
              <a:gd name="adj" fmla="val 10000"/>
            </a:avLst>
          </a:prstGeom>
          <a:solidFill>
            <a:srgbClr val="3E2100"/>
          </a:solidFill>
          <a:ln w="25400">
            <a:solidFill>
              <a:srgbClr val="F68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5800" y="5541264"/>
            <a:ext cx="1280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6821F"/>
                </a:solidFill>
                <a:latin typeface="Segoe UI"/>
              </a:defRPr>
            </a:pPr>
            <a:r>
              <a:t>WORKDAY INTEGRATION CLOUD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5760720"/>
            <a:ext cx="1325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F5CB8A"/>
                </a:solidFill>
                <a:latin typeface="Segoe UI"/>
              </a:defRPr>
            </a:pPr>
            <a:r>
              <a:t>Workday Studio  •  EIB (Enterprise Interface Builder)  •  Core Connectors  •  Cloud Connect  •  Document Transformation  •  REST / SOAP API  •  RaaS (Report as a Service)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36576"/>
          </a:xfrm>
          <a:prstGeom prst="rect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6821F"/>
                </a:solidFill>
                <a:latin typeface="Segoe UI"/>
              </a:defRPr>
            </a:pPr>
            <a:r>
              <a:t>WORKDAY HCM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Segoe UI"/>
              </a:defRPr>
            </a:pPr>
            <a:r>
              <a:t>Implementation &amp; Competitive Landscape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200400" cy="1645920"/>
          </a:xfrm>
          <a:prstGeom prst="roundRect">
            <a:avLst>
              <a:gd name="adj" fmla="val 6000"/>
            </a:avLst>
          </a:prstGeom>
          <a:solidFill>
            <a:srgbClr val="121A2D"/>
          </a:solidFill>
          <a:ln w="19050">
            <a:solidFill>
              <a:srgbClr val="F68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1097280"/>
            <a:ext cx="3090672" cy="45720"/>
          </a:xfrm>
          <a:prstGeom prst="rect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6821F"/>
                </a:solidFill>
                <a:latin typeface="Segoe UI"/>
              </a:defRPr>
            </a:pPr>
            <a:r>
              <a:t>12–18 mo.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Segoe UI"/>
              </a:defRPr>
            </a:pPr>
            <a:r>
              <a:t>Implementation Timeline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8A93A6"/>
                </a:solidFill>
                <a:latin typeface="Segoe UI"/>
              </a:defRPr>
            </a:pPr>
            <a:r>
              <a:t>Full HCM suite with</a:t>
            </a:r>
            <a:br/>
            <a:r>
              <a:t>data migration &amp; testing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1097280"/>
            <a:ext cx="3200400" cy="1645920"/>
          </a:xfrm>
          <a:prstGeom prst="roundRect">
            <a:avLst>
              <a:gd name="adj" fmla="val 6000"/>
            </a:avLst>
          </a:prstGeom>
          <a:solidFill>
            <a:srgbClr val="121A2D"/>
          </a:solidFill>
          <a:ln w="19050">
            <a:solidFill>
              <a:srgbClr val="005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95344" y="1097280"/>
            <a:ext cx="3090672" cy="45720"/>
          </a:xfrm>
          <a:prstGeom prst="rect">
            <a:avLst/>
          </a:prstGeom>
          <a:solidFill>
            <a:srgbClr val="005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1280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005CB9"/>
                </a:solidFill>
                <a:latin typeface="Segoe UI"/>
              </a:defRPr>
            </a:pPr>
            <a:r>
              <a:t>60M+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7830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Segoe UI"/>
              </a:defRPr>
            </a:pPr>
            <a:r>
              <a:t>Users Worldwide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148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8A93A6"/>
                </a:solidFill>
                <a:latin typeface="Segoe UI"/>
              </a:defRPr>
            </a:pPr>
            <a:r>
              <a:t>Powering 60% of</a:t>
            </a:r>
            <a:br/>
            <a:r>
              <a:t>Fortune 500 companies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1097280"/>
            <a:ext cx="3200400" cy="1645920"/>
          </a:xfrm>
          <a:prstGeom prst="roundRect">
            <a:avLst>
              <a:gd name="adj" fmla="val 6000"/>
            </a:avLst>
          </a:prstGeom>
          <a:solidFill>
            <a:srgbClr val="121A2D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78624" y="1097280"/>
            <a:ext cx="3090672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0" y="1280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009688"/>
                </a:solidFill>
                <a:latin typeface="Segoe UI"/>
              </a:defRPr>
            </a:pPr>
            <a:r>
              <a:t>2x / 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17830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Segoe UI"/>
              </a:defRPr>
            </a:pPr>
            <a:r>
              <a:t>Feature Releases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2148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8A93A6"/>
                </a:solidFill>
                <a:latin typeface="Segoe UI"/>
              </a:defRPr>
            </a:pPr>
            <a:r>
              <a:t>Continuous innovation.</a:t>
            </a:r>
            <a:br/>
            <a:r>
              <a:t>No version upgrades.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607040" y="1097280"/>
            <a:ext cx="3200400" cy="1645920"/>
          </a:xfrm>
          <a:prstGeom prst="roundRect">
            <a:avLst>
              <a:gd name="adj" fmla="val 6000"/>
            </a:avLst>
          </a:prstGeom>
          <a:solidFill>
            <a:srgbClr val="121A2D"/>
          </a:solidFill>
          <a:ln w="190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661904" y="1097280"/>
            <a:ext cx="3090672" cy="457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81360" y="1280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43A047"/>
                </a:solidFill>
                <a:latin typeface="Segoe UI"/>
              </a:defRPr>
            </a:pPr>
            <a:r>
              <a:t>99.7%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17830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Segoe UI"/>
              </a:defRPr>
            </a:pPr>
            <a:r>
              <a:t>Customer Retention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2148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8A93A6"/>
                </a:solidFill>
                <a:latin typeface="Segoe UI"/>
              </a:defRPr>
            </a:pPr>
            <a:r>
              <a:t>Highest in enterprise</a:t>
            </a:r>
            <a:br/>
            <a:r>
              <a:t>HCM market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08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Competitive Comparison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456432"/>
            <a:ext cx="2286000" cy="27432"/>
          </a:xfrm>
          <a:prstGeom prst="rect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57200" y="3611880"/>
          <a:ext cx="13716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474720"/>
                <a:gridCol w="3474720"/>
                <a:gridCol w="3566160"/>
              </a:tblGrid>
              <a:tr h="4800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6821F"/>
                          </a:solidFill>
                          <a:latin typeface="Segoe UI"/>
                        </a:defRPr>
                      </a:pPr>
                      <a:r>
                        <a:t>Workday HCM</a:t>
                      </a:r>
                    </a:p>
                  </a:txBody>
                  <a:tcPr>
                    <a:solidFill>
                      <a:srgbClr val="2A1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Oracle Fusion Cloud</a:t>
                      </a:r>
                    </a:p>
                  </a:txBody>
                  <a:tcPr>
                    <a:solidFill>
                      <a:srgbClr val="2A1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SAP SuccessFactors</a:t>
                      </a:r>
                    </a:p>
                  </a:txBody>
                  <a:tcPr>
                    <a:solidFill>
                      <a:srgbClr val="2A1500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Core HR / Worker Record</a:t>
                      </a:r>
                    </a:p>
                  </a:txBody>
                  <a:tcPr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6821F"/>
                          </a:solidFill>
                          <a:latin typeface="Segoe UI"/>
                        </a:defRPr>
                      </a:pPr>
                      <a:r>
                        <a:t>Unified object model</a:t>
                      </a:r>
                    </a:p>
                  </a:txBody>
                  <a:tcPr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Modular (separate DBs)</a:t>
                      </a:r>
                    </a:p>
                  </a:txBody>
                  <a:tcPr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Employee Central</a:t>
                      </a:r>
                    </a:p>
                  </a:txBody>
                  <a:tcPr>
                    <a:solidFill>
                      <a:srgbClr val="141E33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Payroll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6821F"/>
                          </a:solidFill>
                          <a:latin typeface="Segoe UI"/>
                        </a:defRPr>
                      </a:pPr>
                      <a:r>
                        <a:t>Native + 3rd party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Cloud Payroll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Employee Central Payroll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Recruiting</a:t>
                      </a:r>
                    </a:p>
                  </a:txBody>
                  <a:tcPr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6821F"/>
                          </a:solidFill>
                          <a:latin typeface="Segoe UI"/>
                        </a:defRPr>
                      </a:pPr>
                      <a:r>
                        <a:t>Native (acquired)</a:t>
                      </a:r>
                    </a:p>
                  </a:txBody>
                  <a:tcPr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Taleo → Recruiting Cloud</a:t>
                      </a:r>
                    </a:p>
                  </a:txBody>
                  <a:tcPr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Recruiting Management</a:t>
                      </a:r>
                    </a:p>
                  </a:txBody>
                  <a:tcPr>
                    <a:solidFill>
                      <a:srgbClr val="141E33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Compensation &amp; Benefits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6821F"/>
                          </a:solidFill>
                          <a:latin typeface="Segoe UI"/>
                        </a:defRPr>
                      </a:pPr>
                      <a:r>
                        <a:t>Integrated real-time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Separate modules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Compensation + Benefits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Analytics</a:t>
                      </a:r>
                    </a:p>
                  </a:txBody>
                  <a:tcPr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6821F"/>
                          </a:solidFill>
                          <a:latin typeface="Segoe UI"/>
                        </a:defRPr>
                      </a:pPr>
                      <a:r>
                        <a:t>Prism Analytics + Discovery</a:t>
                      </a:r>
                    </a:p>
                  </a:txBody>
                  <a:tcPr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OTBI + Analytics Cloud</a:t>
                      </a:r>
                    </a:p>
                  </a:txBody>
                  <a:tcPr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People Analytics (SAC)</a:t>
                      </a:r>
                    </a:p>
                  </a:txBody>
                  <a:tcPr>
                    <a:solidFill>
                      <a:srgbClr val="141E33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6821F"/>
                          </a:solidFill>
                          <a:latin typeface="Segoe UI"/>
                        </a:defRPr>
                      </a:pPr>
                      <a:r>
                        <a:t>True multi-tenant SaaS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Gen 2 Cloud (lift &amp; shift risk)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BTP + Neo hybrid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Total Cost (5-yr)</a:t>
                      </a:r>
                    </a:p>
                  </a:txBody>
                  <a:tcPr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6821F"/>
                          </a:solidFill>
                          <a:latin typeface="Segoe UI"/>
                        </a:defRPr>
                      </a:pPr>
                      <a:r>
                        <a:t>$$$ (premium SaaS)</a:t>
                      </a:r>
                    </a:p>
                  </a:txBody>
                  <a:tcPr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$$$$ (implementation heavy)</a:t>
                      </a:r>
                    </a:p>
                  </a:txBody>
                  <a:tcPr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$$$ (licensing complex)</a:t>
                      </a:r>
                    </a:p>
                  </a:txBody>
                  <a:tcPr>
                    <a:solidFill>
                      <a:srgbClr val="141E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36576"/>
          </a:xfrm>
          <a:prstGeom prst="rect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887200" y="914400"/>
            <a:ext cx="4572000" cy="4572000"/>
          </a:xfrm>
          <a:prstGeom prst="ellipse">
            <a:avLst/>
          </a:prstGeom>
          <a:solidFill>
            <a:srgbClr val="15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801600" y="4572000"/>
            <a:ext cx="3200400" cy="3200400"/>
          </a:xfrm>
          <a:prstGeom prst="ellipse">
            <a:avLst/>
          </a:prstGeom>
          <a:solidFill>
            <a:srgbClr val="12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6821F"/>
                </a:solidFill>
                <a:latin typeface="Segoe UI"/>
              </a:defRPr>
            </a:pPr>
            <a:r>
              <a:t>WORKDAY HCM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Segoe UI"/>
              </a:defRPr>
            </a:pPr>
            <a:r>
              <a:t>Key Architecture Takeaways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3167360" cy="960120"/>
          </a:xfrm>
          <a:prstGeom prst="roundRect">
            <a:avLst>
              <a:gd name="adj" fmla="val 3000"/>
            </a:avLst>
          </a:prstGeom>
          <a:solidFill>
            <a:srgbClr val="121A2D"/>
          </a:solidFill>
          <a:ln w="19050">
            <a:solidFill>
              <a:srgbClr val="F68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81912"/>
            <a:ext cx="54864" cy="813816"/>
          </a:xfrm>
          <a:prstGeom prst="rect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819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6821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5819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Single Object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892808"/>
            <a:ext cx="1207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8A93A6"/>
                </a:solidFill>
                <a:latin typeface="Segoe UI"/>
              </a:defRPr>
            </a:pPr>
            <a:r>
              <a:t>Unlike Oracle/SAP's modular approach, Workday stores everything in one unified worker record. This eliminates data sync issues but makes migration a 12–18 month journey.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78608"/>
            <a:ext cx="13167360" cy="960120"/>
          </a:xfrm>
          <a:prstGeom prst="roundRect">
            <a:avLst>
              <a:gd name="adj" fmla="val 3000"/>
            </a:avLst>
          </a:prstGeom>
          <a:solidFill>
            <a:srgbClr val="121A2D"/>
          </a:solidFill>
          <a:ln w="19050">
            <a:solidFill>
              <a:srgbClr val="005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651760"/>
            <a:ext cx="54864" cy="813816"/>
          </a:xfrm>
          <a:prstGeom prst="rect">
            <a:avLst/>
          </a:prstGeom>
          <a:solidFill>
            <a:srgbClr val="005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651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005CB9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651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True Multi-Tenant SaaS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962656"/>
            <a:ext cx="1207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8A93A6"/>
                </a:solidFill>
                <a:latin typeface="Segoe UI"/>
              </a:defRPr>
            </a:pPr>
            <a:r>
              <a:t>Everyone runs the same code version. Updates are pushed 2x/year automatically. No version fragmentation. No on-prem option — this is a feature, not a bug.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48456"/>
            <a:ext cx="13167360" cy="960120"/>
          </a:xfrm>
          <a:prstGeom prst="roundRect">
            <a:avLst>
              <a:gd name="adj" fmla="val 3000"/>
            </a:avLst>
          </a:prstGeom>
          <a:solidFill>
            <a:srgbClr val="121A2D"/>
          </a:solidFill>
          <a:ln w="19050">
            <a:solidFill>
              <a:srgbClr val="E85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721608"/>
            <a:ext cx="54864" cy="813816"/>
          </a:xfrm>
          <a:prstGeom prst="rect">
            <a:avLst/>
          </a:prstGeom>
          <a:solidFill>
            <a:srgbClr val="E8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72160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E85D4E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7216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Core HR is the Foundation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032504"/>
            <a:ext cx="1207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8A93A6"/>
                </a:solidFill>
                <a:latin typeface="Segoe UI"/>
              </a:defRPr>
            </a:pPr>
            <a:r>
              <a:t>Steps 4–8 (Hire to Pay) are the hardest to replace and the stickiest. Once Core HR is live, the switching cost is enormous. Plan accordingly.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718304"/>
            <a:ext cx="13167360" cy="960120"/>
          </a:xfrm>
          <a:prstGeom prst="roundRect">
            <a:avLst>
              <a:gd name="adj" fmla="val 3000"/>
            </a:avLst>
          </a:prstGeom>
          <a:solidFill>
            <a:srgbClr val="121A2D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791456"/>
            <a:ext cx="54864" cy="81381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79145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009688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79145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Integration is the Real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5102352"/>
            <a:ext cx="1207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8A93A6"/>
                </a:solidFill>
                <a:latin typeface="Segoe UI"/>
              </a:defRPr>
            </a:pPr>
            <a:r>
              <a:t>50% of implementation effort is integration. EIB, Studio, Core Connectors, and the new Integration Cloud are critical skills. Budget for it.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788152"/>
            <a:ext cx="13167360" cy="960120"/>
          </a:xfrm>
          <a:prstGeom prst="roundRect">
            <a:avLst>
              <a:gd name="adj" fmla="val 3000"/>
            </a:avLst>
          </a:prstGeom>
          <a:solidFill>
            <a:srgbClr val="121A2D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5861304"/>
            <a:ext cx="54864" cy="813816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86130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7B1FA2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586130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Security Model is Unique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6172200"/>
            <a:ext cx="1207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8A93A6"/>
                </a:solidFill>
                <a:latin typeface="Segoe UI"/>
              </a:defRPr>
            </a:pPr>
            <a:r>
              <a:t>Intersection-based security (role × org × domain) is powerful but complex. Plan your security groups early — retrofitting is painful.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